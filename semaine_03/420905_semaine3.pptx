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4" r:id="rId7"/>
    <p:sldId id="263" r:id="rId8"/>
    <p:sldId id="298" r:id="rId9"/>
    <p:sldId id="299" r:id="rId10"/>
    <p:sldId id="269" r:id="rId11"/>
    <p:sldId id="270" r:id="rId12"/>
    <p:sldId id="271" r:id="rId13"/>
    <p:sldId id="317" r:id="rId14"/>
    <p:sldId id="300" r:id="rId15"/>
    <p:sldId id="312" r:id="rId16"/>
    <p:sldId id="306" r:id="rId17"/>
    <p:sldId id="305" r:id="rId18"/>
    <p:sldId id="307" r:id="rId19"/>
    <p:sldId id="304" r:id="rId20"/>
    <p:sldId id="308" r:id="rId21"/>
    <p:sldId id="309" r:id="rId22"/>
    <p:sldId id="310" r:id="rId23"/>
    <p:sldId id="311" r:id="rId24"/>
    <p:sldId id="267" r:id="rId25"/>
    <p:sldId id="266" r:id="rId26"/>
    <p:sldId id="273" r:id="rId27"/>
    <p:sldId id="318" r:id="rId28"/>
    <p:sldId id="319" r:id="rId29"/>
    <p:sldId id="320" r:id="rId30"/>
    <p:sldId id="274" r:id="rId31"/>
    <p:sldId id="313" r:id="rId32"/>
    <p:sldId id="314" r:id="rId33"/>
    <p:sldId id="276" r:id="rId34"/>
    <p:sldId id="315" r:id="rId35"/>
    <p:sldId id="31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73D1"/>
    <a:srgbClr val="FA4098"/>
    <a:srgbClr val="73B3D1"/>
    <a:srgbClr val="7385D1"/>
    <a:srgbClr val="739CD1"/>
    <a:srgbClr val="FA4840"/>
    <a:srgbClr val="B177BF"/>
    <a:srgbClr val="BF779D"/>
    <a:srgbClr val="797CDE"/>
    <a:srgbClr val="F27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53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8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ustomXml" Target="../customXml/item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ustomXml" Target="../customXml/item3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>
                <a:solidFill>
                  <a:srgbClr val="73B3D1"/>
                </a:solidFill>
              </a:rPr>
              <a:t>Intro. à la programmation - Aut. 2022</a:t>
            </a: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2022-08-13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gi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0.gif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gi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/>
              <a:t>Semaine 3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DOM avec styles CSS, variables globales et événements</a:t>
            </a:r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Révision</a:t>
            </a:r>
          </a:p>
          <a:p>
            <a:r>
              <a:rPr lang="fr-CA">
                <a:solidFill>
                  <a:srgbClr val="739CD1"/>
                </a:solidFill>
              </a:rPr>
              <a:t> Variables globales, locales et constantes</a:t>
            </a:r>
            <a:endParaRPr lang="fr-CA" dirty="0">
              <a:solidFill>
                <a:srgbClr val="739CD1"/>
              </a:solidFill>
            </a:endParaRPr>
          </a:p>
          <a:p>
            <a:r>
              <a:rPr lang="fr-CA">
                <a:solidFill>
                  <a:srgbClr val="7385D1"/>
                </a:solidFill>
              </a:rPr>
              <a:t> Booléens</a:t>
            </a:r>
          </a:p>
          <a:p>
            <a:pPr lvl="1"/>
            <a:r>
              <a:rPr lang="fr-CA">
                <a:solidFill>
                  <a:srgbClr val="7385D1"/>
                </a:solidFill>
              </a:rPr>
              <a:t> Vrai ou faux ?</a:t>
            </a:r>
          </a:p>
          <a:p>
            <a:pPr lvl="1"/>
            <a:r>
              <a:rPr lang="fr-CA">
                <a:solidFill>
                  <a:srgbClr val="7385D1"/>
                </a:solidFill>
              </a:rPr>
              <a:t> Opérateurs de comparaison</a:t>
            </a:r>
          </a:p>
          <a:p>
            <a:pPr lvl="1"/>
            <a:r>
              <a:rPr lang="fr-CA">
                <a:solidFill>
                  <a:srgbClr val="7385D1"/>
                </a:solidFill>
              </a:rPr>
              <a:t> Opérateurs logiques</a:t>
            </a:r>
          </a:p>
          <a:p>
            <a:r>
              <a:rPr lang="fr-CA">
                <a:solidFill>
                  <a:srgbClr val="9073D1"/>
                </a:solidFill>
              </a:rPr>
              <a:t> Conditions</a:t>
            </a:r>
          </a:p>
          <a:p>
            <a:pPr lvl="1"/>
            <a:r>
              <a:rPr lang="fr-CA">
                <a:solidFill>
                  <a:srgbClr val="9073D1"/>
                </a:solidFill>
              </a:rPr>
              <a:t> if</a:t>
            </a:r>
          </a:p>
          <a:p>
            <a:pPr lvl="1"/>
            <a:r>
              <a:rPr lang="fr-CA">
                <a:solidFill>
                  <a:srgbClr val="9073D1"/>
                </a:solidFill>
              </a:rPr>
              <a:t> else</a:t>
            </a:r>
          </a:p>
          <a:p>
            <a:pPr lvl="1"/>
            <a:r>
              <a:rPr lang="fr-CA">
                <a:solidFill>
                  <a:srgbClr val="9073D1"/>
                </a:solidFill>
              </a:rPr>
              <a:t> else if</a:t>
            </a:r>
            <a:endParaRPr lang="fr-CA" dirty="0">
              <a:solidFill>
                <a:srgbClr val="9073D1"/>
              </a:solidFill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1 :</a:t>
            </a:r>
          </a:p>
          <a:p>
            <a:pPr lvl="1"/>
            <a:r>
              <a:rPr lang="fr-CA"/>
              <a:t> Opérateurs mathématiques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fr-CA">
                <a:cs typeface="Courier New" panose="02070309020205020404" pitchFamily="49" charset="0"/>
              </a:rPr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CA"/>
              <a:t> Opérateurs d’affectation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fr-CA">
              <a:cs typeface="Courier New" panose="02070309020205020404" pitchFamily="49" charset="0"/>
            </a:endParaRPr>
          </a:p>
          <a:p>
            <a:pPr lvl="1"/>
            <a:r>
              <a:rPr lang="fr-CA"/>
              <a:t> Déclarer une variable :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a = 3;</a:t>
            </a:r>
          </a:p>
          <a:p>
            <a:pPr lvl="1"/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</p:spTree>
    <p:extLst>
      <p:ext uri="{BB962C8B-B14F-4D97-AF65-F5344CB8AC3E}">
        <p14:creationId xmlns:p14="http://schemas.microsoft.com/office/powerpoint/2010/main" val="2014503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:</a:t>
            </a:r>
          </a:p>
          <a:p>
            <a:pPr lvl="1"/>
            <a:r>
              <a:rPr lang="fr-CA"/>
              <a:t> Chaînes de caractères</a:t>
            </a:r>
          </a:p>
          <a:p>
            <a:pPr marL="457200" lvl="1" indent="0">
              <a:buNone/>
            </a:pPr>
            <a:endParaRPr lang="fr-CA"/>
          </a:p>
          <a:p>
            <a:pPr lvl="1"/>
            <a:r>
              <a:rPr lang="fr-CA">
                <a:cs typeface="Courier New" panose="02070309020205020404" pitchFamily="49" charset="0"/>
              </a:rPr>
              <a:t> Concaténation avec </a:t>
            </a:r>
            <a:r>
              <a:rPr lang="fr-CA">
                <a:solidFill>
                  <a:srgbClr val="FA4098"/>
                </a:solidFill>
                <a:cs typeface="Courier New" panose="02070309020205020404" pitchFamily="49" charset="0"/>
              </a:rPr>
              <a:t>+</a:t>
            </a:r>
            <a:r>
              <a:rPr lang="fr-CA">
                <a:cs typeface="Courier New" panose="02070309020205020404" pitchFamily="49" charset="0"/>
              </a:rPr>
              <a:t> </a:t>
            </a:r>
          </a:p>
          <a:p>
            <a:pPr lvl="1"/>
            <a:endParaRPr lang="fr-CA">
              <a:cs typeface="Courier New" panose="02070309020205020404" pitchFamily="49" charset="0"/>
            </a:endParaRPr>
          </a:p>
          <a:p>
            <a:pPr lvl="1"/>
            <a:endParaRPr lang="fr-CA">
              <a:cs typeface="Courier New" panose="02070309020205020404" pitchFamily="49" charset="0"/>
            </a:endParaRPr>
          </a:p>
          <a:p>
            <a:pPr lvl="1"/>
            <a:r>
              <a:rPr lang="fr-CA">
                <a:cs typeface="Courier New" panose="02070309020205020404" pitchFamily="49" charset="0"/>
              </a:rPr>
              <a:t> Concaténation avec </a:t>
            </a:r>
            <a:r>
              <a:rPr lang="fr-CA">
                <a:solidFill>
                  <a:srgbClr val="FA4098"/>
                </a:solidFill>
                <a:cs typeface="Courier New" panose="02070309020205020404" pitchFamily="49" charset="0"/>
              </a:rPr>
              <a:t>+=</a:t>
            </a:r>
          </a:p>
          <a:p>
            <a:pPr marL="914400" lvl="2" indent="0">
              <a:buNone/>
            </a:pPr>
            <a:endParaRPr lang="fr-CA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FC02DEF-E931-4030-9B91-CBB6A811C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553" y="2838586"/>
            <a:ext cx="1816503" cy="665777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B77571C-3957-475B-9093-68ED74DCA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553" y="4019414"/>
            <a:ext cx="2248214" cy="914528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F9CEDA6-26EA-4F0D-AB05-8A5B4A801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0553" y="2011393"/>
            <a:ext cx="3792441" cy="358623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3475420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document.querySelector() et .textContent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.textContent et concaténation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F46C7BD-DA93-4AD7-8BE4-9EF208268BF0}"/>
              </a:ext>
            </a:extLst>
          </p:cNvPr>
          <p:cNvSpPr txBox="1"/>
          <p:nvPr/>
        </p:nvSpPr>
        <p:spPr>
          <a:xfrm>
            <a:off x="3756384" y="2084567"/>
            <a:ext cx="563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id="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"&gt; Pick a shoe &lt;/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1ED648B1-AB46-46F7-8D8A-DD5EB9782105}"/>
              </a:ext>
            </a:extLst>
          </p:cNvPr>
          <p:cNvSpPr/>
          <p:nvPr/>
        </p:nvSpPr>
        <p:spPr>
          <a:xfrm>
            <a:off x="5407152" y="2511552"/>
            <a:ext cx="274320" cy="316992"/>
          </a:xfrm>
          <a:prstGeom prst="down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F866A3-DBDE-4390-824D-FA9F299B58E6}"/>
              </a:ext>
            </a:extLst>
          </p:cNvPr>
          <p:cNvSpPr txBox="1"/>
          <p:nvPr/>
        </p:nvSpPr>
        <p:spPr>
          <a:xfrm>
            <a:off x="1608861" y="2874006"/>
            <a:ext cx="886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").textContent = "Pikachu";</a:t>
            </a:r>
          </a:p>
        </p:txBody>
      </p:sp>
      <p:sp>
        <p:nvSpPr>
          <p:cNvPr id="7" name="Flèche : bas 6">
            <a:extLst>
              <a:ext uri="{FF2B5EF4-FFF2-40B4-BE49-F238E27FC236}">
                <a16:creationId xmlns:a16="http://schemas.microsoft.com/office/drawing/2014/main" id="{97BA9380-9F50-4C0E-934F-1538D3C88E8E}"/>
              </a:ext>
            </a:extLst>
          </p:cNvPr>
          <p:cNvSpPr/>
          <p:nvPr/>
        </p:nvSpPr>
        <p:spPr>
          <a:xfrm>
            <a:off x="8698992" y="4783892"/>
            <a:ext cx="379221" cy="437990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8521B85-E01B-4205-895D-F31655E95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733" y="4596805"/>
            <a:ext cx="6619271" cy="146791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2139B3E-E626-43A4-BFC9-87E34F963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054" y="5333777"/>
            <a:ext cx="2313165" cy="1095403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7319BB8-2E4D-4438-9014-6DAF81028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2019" y="3564940"/>
            <a:ext cx="2313165" cy="110705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224335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Les fonctions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38177D8-2777-4F3B-BBA2-45D7DFD60754}"/>
              </a:ext>
            </a:extLst>
          </p:cNvPr>
          <p:cNvSpPr txBox="1"/>
          <p:nvPr/>
        </p:nvSpPr>
        <p:spPr>
          <a:xfrm>
            <a:off x="1605317" y="2193284"/>
            <a:ext cx="2371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 mot-clé sert à </a:t>
            </a:r>
            <a:r>
              <a:rPr lang="fr-CA" sz="1400" b="1" dirty="0">
                <a:solidFill>
                  <a:srgbClr val="73B3D1"/>
                </a:solidFill>
              </a:rPr>
              <a:t>déclarer</a:t>
            </a:r>
            <a:r>
              <a:rPr lang="fr-CA" sz="1400" dirty="0">
                <a:solidFill>
                  <a:srgbClr val="9073D1"/>
                </a:solidFill>
              </a:rPr>
              <a:t> une fonction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5A7213-3419-4B06-813A-587F682944FC}"/>
              </a:ext>
            </a:extLst>
          </p:cNvPr>
          <p:cNvSpPr txBox="1"/>
          <p:nvPr/>
        </p:nvSpPr>
        <p:spPr>
          <a:xfrm>
            <a:off x="4095532" y="2195960"/>
            <a:ext cx="314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Ceci est le </a:t>
            </a:r>
            <a:r>
              <a:rPr lang="fr-CA" sz="1400" b="1" dirty="0">
                <a:solidFill>
                  <a:srgbClr val="73B3D1"/>
                </a:solidFill>
              </a:rPr>
              <a:t>nom</a:t>
            </a:r>
            <a:r>
              <a:rPr lang="fr-CA" sz="1400" dirty="0">
                <a:solidFill>
                  <a:srgbClr val="9073D1"/>
                </a:solidFill>
              </a:rPr>
              <a:t> de la fonction. C’est ce qui l’identifie.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B52E63D-E515-4801-93C5-5C6E57BB37F8}"/>
              </a:ext>
            </a:extLst>
          </p:cNvPr>
          <p:cNvSpPr txBox="1"/>
          <p:nvPr/>
        </p:nvSpPr>
        <p:spPr>
          <a:xfrm>
            <a:off x="7297660" y="2188589"/>
            <a:ext cx="36850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Le morceau de code réutilisable est situé entre des </a:t>
            </a:r>
            <a:r>
              <a:rPr lang="fr-CA" sz="1400" b="1" dirty="0">
                <a:solidFill>
                  <a:srgbClr val="73B3D1"/>
                </a:solidFill>
              </a:rPr>
              <a:t>accolades</a:t>
            </a:r>
            <a:r>
              <a:rPr lang="fr-CA" sz="1400" dirty="0">
                <a:solidFill>
                  <a:srgbClr val="9073D1"/>
                </a:solidFill>
              </a:rPr>
              <a:t> { ... }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C804BA-7765-4B04-ABAB-E371E9F50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810" y="3089622"/>
            <a:ext cx="8278380" cy="104789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4EF15F18-7296-4DE6-AFB9-3DE08491470E}"/>
              </a:ext>
            </a:extLst>
          </p:cNvPr>
          <p:cNvCxnSpPr>
            <a:cxnSpLocks/>
          </p:cNvCxnSpPr>
          <p:nvPr/>
        </p:nvCxnSpPr>
        <p:spPr>
          <a:xfrm>
            <a:off x="2505456" y="2612171"/>
            <a:ext cx="143257" cy="56752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199B11FB-68BB-4CE9-87EC-C0235FC54985}"/>
              </a:ext>
            </a:extLst>
          </p:cNvPr>
          <p:cNvCxnSpPr>
            <a:cxnSpLocks/>
          </p:cNvCxnSpPr>
          <p:nvPr/>
        </p:nvCxnSpPr>
        <p:spPr>
          <a:xfrm flipH="1">
            <a:off x="4095533" y="2711809"/>
            <a:ext cx="476467" cy="467887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1F987076-B4E2-4297-86C0-E41D5752D50C}"/>
              </a:ext>
            </a:extLst>
          </p:cNvPr>
          <p:cNvCxnSpPr>
            <a:cxnSpLocks/>
          </p:cNvCxnSpPr>
          <p:nvPr/>
        </p:nvCxnSpPr>
        <p:spPr>
          <a:xfrm flipH="1">
            <a:off x="5313048" y="2748691"/>
            <a:ext cx="2667755" cy="61020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5D9F11AA-3A83-4609-85CD-30E66F7B7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99" y="4371645"/>
            <a:ext cx="2503809" cy="121338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98450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Fonctions préexistantes</a:t>
            </a:r>
          </a:p>
          <a:p>
            <a:pPr lvl="2"/>
            <a:r>
              <a:rPr lang="fr-CA"/>
              <a:t> alert()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marL="914400" lvl="2" indent="0">
              <a:buNone/>
            </a:pPr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console.log()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2E30DA7-97E3-4BAE-BFD6-632CD0982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47031"/>
            <a:ext cx="4829849" cy="151468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658AEA5-22C4-44B5-9B4B-FA3E081BE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136" y="1665117"/>
            <a:ext cx="5909723" cy="2744401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65FDD89-D084-44A5-B113-B23599200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57704"/>
            <a:ext cx="4334480" cy="201005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637173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Constantes</a:t>
            </a:r>
          </a:p>
          <a:p>
            <a:pPr lvl="1"/>
            <a:r>
              <a:rPr lang="fr-CA"/>
              <a:t> Nous avons vu comment déclarer des </a:t>
            </a:r>
            <a:r>
              <a:rPr lang="fr-CA" b="1"/>
              <a:t>variables</a:t>
            </a:r>
            <a:r>
              <a:rPr lang="fr-CA"/>
              <a:t> ...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Nous pouvons également déclarer des </a:t>
            </a:r>
            <a:r>
              <a:rPr lang="fr-CA" b="1"/>
              <a:t>variables constantes</a:t>
            </a:r>
          </a:p>
          <a:p>
            <a:pPr lvl="2"/>
            <a:r>
              <a:rPr lang="fr-CA"/>
              <a:t> Il suffit de remplacer le mot-clé </a:t>
            </a:r>
            <a:r>
              <a:rPr lang="fr-CA" b="1">
                <a:solidFill>
                  <a:srgbClr val="FA4098"/>
                </a:solidFill>
              </a:rPr>
              <a:t>let</a:t>
            </a:r>
            <a:r>
              <a:rPr lang="fr-CA"/>
              <a:t> par « </a:t>
            </a:r>
            <a:r>
              <a:rPr lang="fr-CA" b="1">
                <a:solidFill>
                  <a:srgbClr val="FA4098"/>
                </a:solidFill>
              </a:rPr>
              <a:t>const</a:t>
            </a:r>
            <a:r>
              <a:rPr lang="fr-CA"/>
              <a:t> »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Ces </a:t>
            </a:r>
            <a:r>
              <a:rPr lang="fr-CA" b="1"/>
              <a:t>variables constantes </a:t>
            </a:r>
            <a:r>
              <a:rPr lang="fr-CA"/>
              <a:t>peuvent être utilisée comme n’importe quelle autre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Constantes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FC8E3C7-55B2-4EAC-92C5-0FCCF608E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774" y="5865924"/>
            <a:ext cx="3820849" cy="36909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8E485C46-9ED9-4375-8681-53A1EC4EA361}"/>
              </a:ext>
            </a:extLst>
          </p:cNvPr>
          <p:cNvSpPr txBox="1"/>
          <p:nvPr/>
        </p:nvSpPr>
        <p:spPr>
          <a:xfrm>
            <a:off x="8004623" y="4076807"/>
            <a:ext cx="3864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739CD1"/>
                </a:solidFill>
              </a:rPr>
              <a:t>Convention</a:t>
            </a:r>
            <a:r>
              <a:rPr lang="fr-CA">
                <a:solidFill>
                  <a:srgbClr val="739CD1"/>
                </a:solidFill>
              </a:rPr>
              <a:t> : Les variables constantes sont nommées en </a:t>
            </a:r>
            <a:r>
              <a:rPr lang="fr-CA" b="1">
                <a:solidFill>
                  <a:srgbClr val="739CD1"/>
                </a:solidFill>
              </a:rPr>
              <a:t>MAJUSCULES</a:t>
            </a:r>
            <a:r>
              <a:rPr lang="fr-CA">
                <a:solidFill>
                  <a:srgbClr val="739CD1"/>
                </a:solidFill>
              </a:rPr>
              <a:t> pour les reconnaître facilement !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D7BEA5D-DA79-47FA-9A02-08BF06768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669" y="2206130"/>
            <a:ext cx="3277057" cy="714475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F2B6E2-19B5-470F-A8B5-37BAEF317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2339" y="4190761"/>
            <a:ext cx="3820058" cy="69542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74251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Constantes</a:t>
            </a:r>
          </a:p>
          <a:p>
            <a:pPr lvl="1"/>
            <a:r>
              <a:rPr lang="fr-CA"/>
              <a:t> </a:t>
            </a:r>
            <a:r>
              <a:rPr lang="fr-CA" b="1"/>
              <a:t>Particularité</a:t>
            </a:r>
            <a:r>
              <a:rPr lang="fr-CA"/>
              <a:t> : Leur valeur </a:t>
            </a:r>
            <a:r>
              <a:rPr lang="fr-CA" b="1"/>
              <a:t>ne</a:t>
            </a:r>
            <a:r>
              <a:rPr lang="fr-CA"/>
              <a:t> peut </a:t>
            </a:r>
            <a:r>
              <a:rPr lang="fr-CA" b="1"/>
              <a:t>pas</a:t>
            </a:r>
            <a:r>
              <a:rPr lang="fr-CA"/>
              <a:t> être </a:t>
            </a:r>
            <a:r>
              <a:rPr lang="fr-CA" b="1"/>
              <a:t>modifiée</a:t>
            </a:r>
            <a:r>
              <a:rPr lang="fr-CA"/>
              <a:t>. (Cela provoque une </a:t>
            </a:r>
            <a:r>
              <a:rPr lang="fr-CA" b="1" u="sng"/>
              <a:t>erreur</a:t>
            </a:r>
            <a:r>
              <a:rPr lang="fr-CA"/>
              <a:t> dans le programme)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Pourquoi les utiliser ?</a:t>
            </a:r>
          </a:p>
          <a:p>
            <a:pPr lvl="2"/>
            <a:r>
              <a:rPr lang="fr-CA"/>
              <a:t> Lorsqu’on sait qu’une </a:t>
            </a:r>
            <a:r>
              <a:rPr lang="fr-CA" b="1"/>
              <a:t>variable</a:t>
            </a:r>
            <a:r>
              <a:rPr lang="fr-CA"/>
              <a:t> n’est jamais censée changer de valeur, il est préférable d’en faire une </a:t>
            </a:r>
            <a:r>
              <a:rPr lang="fr-CA" b="1"/>
              <a:t>constante</a:t>
            </a:r>
            <a:r>
              <a:rPr lang="fr-CA"/>
              <a:t>. Comme ça, si jamais on change sa valeur par erreur, le programme nous avertit immédiatement de cette bévue.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Constantes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0400EE-EA85-45B3-941F-8C5BAFFE1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388" y="2535329"/>
            <a:ext cx="3006743" cy="178734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10194761-3370-4533-9202-314565E1CA30}"/>
              </a:ext>
            </a:extLst>
          </p:cNvPr>
          <p:cNvSpPr txBox="1"/>
          <p:nvPr/>
        </p:nvSpPr>
        <p:spPr>
          <a:xfrm>
            <a:off x="2110032" y="3429000"/>
            <a:ext cx="5623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🚫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B30D710-54DA-485D-A67F-2E6B75184278}"/>
              </a:ext>
            </a:extLst>
          </p:cNvPr>
          <p:cNvSpPr txBox="1"/>
          <p:nvPr/>
        </p:nvSpPr>
        <p:spPr>
          <a:xfrm>
            <a:off x="2110032" y="3829110"/>
            <a:ext cx="5623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🚫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045C4DD-D25C-436D-B878-E93DD38DA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882" y="2529370"/>
            <a:ext cx="2694324" cy="179330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5E1E441D-A8C2-4BB4-AE2B-CB718753A55A}"/>
              </a:ext>
            </a:extLst>
          </p:cNvPr>
          <p:cNvSpPr txBox="1"/>
          <p:nvPr/>
        </p:nvSpPr>
        <p:spPr>
          <a:xfrm>
            <a:off x="7268717" y="3463713"/>
            <a:ext cx="4892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✔️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3FE7E32-3AF0-4C25-A8AA-02E15343D4D3}"/>
              </a:ext>
            </a:extLst>
          </p:cNvPr>
          <p:cNvSpPr txBox="1"/>
          <p:nvPr/>
        </p:nvSpPr>
        <p:spPr>
          <a:xfrm>
            <a:off x="7268717" y="3863823"/>
            <a:ext cx="4892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4293034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B041E84D-3B82-4010-A5B0-230F0292B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562" y="3804485"/>
            <a:ext cx="7012358" cy="225492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2947979"/>
          </a:xfrm>
        </p:spPr>
        <p:txBody>
          <a:bodyPr/>
          <a:lstStyle/>
          <a:p>
            <a:r>
              <a:rPr lang="fr-CA"/>
              <a:t> Nous avons déjà vu comment déclarer une variable</a:t>
            </a:r>
          </a:p>
          <a:p>
            <a:pPr lvl="1"/>
            <a:r>
              <a:rPr lang="fr-CA"/>
              <a:t> Ex :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a = 4;</a:t>
            </a:r>
            <a:endParaRPr lang="fr-CA"/>
          </a:p>
          <a:p>
            <a:r>
              <a:rPr lang="fr-CA" sz="2400"/>
              <a:t> Toutefois, l’</a:t>
            </a:r>
            <a:r>
              <a:rPr lang="fr-CA" sz="2400" b="1"/>
              <a:t>emplacement</a:t>
            </a:r>
            <a:r>
              <a:rPr lang="fr-CA" sz="2400"/>
              <a:t> dans le code (dans le fichier </a:t>
            </a:r>
            <a:r>
              <a:rPr lang="fr-CA" sz="2400">
                <a:solidFill>
                  <a:srgbClr val="FA4098"/>
                </a:solidFill>
              </a:rPr>
              <a:t>scripts.js</a:t>
            </a:r>
            <a:r>
              <a:rPr lang="fr-CA" sz="2400"/>
              <a:t>, par exemple) où cette variable est </a:t>
            </a:r>
            <a:r>
              <a:rPr lang="fr-CA" sz="2400" b="1"/>
              <a:t>déclarée</a:t>
            </a:r>
            <a:r>
              <a:rPr lang="fr-CA" sz="2400"/>
              <a:t> est important.</a:t>
            </a:r>
          </a:p>
          <a:p>
            <a:pPr lvl="1"/>
            <a:r>
              <a:rPr lang="fr-CA" sz="1800"/>
              <a:t>La variable </a:t>
            </a:r>
            <a:r>
              <a:rPr lang="fr-CA" sz="1800" u="sng"/>
              <a:t>n’existe qu’à l’intérieur de la fonction où elle est déclarée</a:t>
            </a:r>
            <a:r>
              <a:rPr lang="fr-CA" sz="1800"/>
              <a:t>. On ne peut pas l’utiliser ailleurs.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1139D04-DE3F-44D3-89C5-4C994B462E87}"/>
              </a:ext>
            </a:extLst>
          </p:cNvPr>
          <p:cNvSpPr txBox="1"/>
          <p:nvPr/>
        </p:nvSpPr>
        <p:spPr>
          <a:xfrm>
            <a:off x="44398" y="3804485"/>
            <a:ext cx="21726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La variable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est déclarée dans la fonction </a:t>
            </a:r>
            <a:r>
              <a:rPr lang="fr-CA">
                <a:cs typeface="Courier New" panose="02070309020205020404" pitchFamily="49" charset="0"/>
              </a:rPr>
              <a:t>titre1()</a:t>
            </a:r>
            <a:endParaRPr lang="fr-CA">
              <a:solidFill>
                <a:srgbClr val="B177BF"/>
              </a:solidFill>
            </a:endParaRPr>
          </a:p>
          <a:p>
            <a:endParaRPr lang="fr-CA">
              <a:solidFill>
                <a:srgbClr val="B177BF"/>
              </a:solidFill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FEA7EBE-AE81-424F-B6D0-5D31FE454A29}"/>
              </a:ext>
            </a:extLst>
          </p:cNvPr>
          <p:cNvCxnSpPr>
            <a:cxnSpLocks/>
          </p:cNvCxnSpPr>
          <p:nvPr/>
        </p:nvCxnSpPr>
        <p:spPr>
          <a:xfrm flipV="1">
            <a:off x="1735023" y="4443984"/>
            <a:ext cx="874065" cy="67056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26505352-EC72-46CA-A21A-64B2D2927AC5}"/>
              </a:ext>
            </a:extLst>
          </p:cNvPr>
          <p:cNvCxnSpPr>
            <a:cxnSpLocks/>
          </p:cNvCxnSpPr>
          <p:nvPr/>
        </p:nvCxnSpPr>
        <p:spPr>
          <a:xfrm flipH="1">
            <a:off x="8997696" y="4383025"/>
            <a:ext cx="987552" cy="128015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AE74590A-2D51-496E-8BEE-CC87785E216D}"/>
              </a:ext>
            </a:extLst>
          </p:cNvPr>
          <p:cNvSpPr txBox="1"/>
          <p:nvPr/>
        </p:nvSpPr>
        <p:spPr>
          <a:xfrm>
            <a:off x="4212336" y="6203191"/>
            <a:ext cx="6467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On </a:t>
            </a:r>
            <a:r>
              <a:rPr lang="fr-CA" u="sng">
                <a:solidFill>
                  <a:srgbClr val="739CD1"/>
                </a:solidFill>
              </a:rPr>
              <a:t>ne peut pas</a:t>
            </a:r>
            <a:r>
              <a:rPr lang="fr-CA">
                <a:solidFill>
                  <a:srgbClr val="739CD1"/>
                </a:solidFill>
              </a:rPr>
              <a:t> réutiliser la variable 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ici, puisqu’on n’est pas dans la fonction </a:t>
            </a:r>
            <a:r>
              <a:rPr lang="fr-CA">
                <a:cs typeface="Courier New" panose="02070309020205020404" pitchFamily="49" charset="0"/>
              </a:rPr>
              <a:t>titre1()</a:t>
            </a:r>
            <a:r>
              <a:rPr lang="fr-CA">
                <a:solidFill>
                  <a:srgbClr val="739CD1"/>
                </a:solidFill>
              </a:rPr>
              <a:t>. Cela provoque une erreur.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9FD2D8-9CCA-41C9-8E71-513C552D8E05}"/>
              </a:ext>
            </a:extLst>
          </p:cNvPr>
          <p:cNvSpPr/>
          <p:nvPr/>
        </p:nvSpPr>
        <p:spPr>
          <a:xfrm>
            <a:off x="3346703" y="4139185"/>
            <a:ext cx="633599" cy="243840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E8A6C-1CB4-4162-B349-2E05C9705166}"/>
              </a:ext>
            </a:extLst>
          </p:cNvPr>
          <p:cNvSpPr/>
          <p:nvPr/>
        </p:nvSpPr>
        <p:spPr>
          <a:xfrm>
            <a:off x="8119871" y="4401312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EBAB51-DA9B-4742-B53D-B5B25E473109}"/>
              </a:ext>
            </a:extLst>
          </p:cNvPr>
          <p:cNvSpPr/>
          <p:nvPr/>
        </p:nvSpPr>
        <p:spPr>
          <a:xfrm>
            <a:off x="8577726" y="5506254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F6C15F90-0D57-43D4-9750-10AA297179F2}"/>
              </a:ext>
            </a:extLst>
          </p:cNvPr>
          <p:cNvCxnSpPr>
            <a:cxnSpLocks/>
          </p:cNvCxnSpPr>
          <p:nvPr/>
        </p:nvCxnSpPr>
        <p:spPr>
          <a:xfrm flipV="1">
            <a:off x="7919358" y="5839844"/>
            <a:ext cx="658368" cy="450755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319C3F36-8550-4A39-BC46-498250D4BBEE}"/>
              </a:ext>
            </a:extLst>
          </p:cNvPr>
          <p:cNvSpPr txBox="1"/>
          <p:nvPr/>
        </p:nvSpPr>
        <p:spPr>
          <a:xfrm>
            <a:off x="9491085" y="3775385"/>
            <a:ext cx="25594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On peut utiliser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ici sans problème.</a:t>
            </a:r>
          </a:p>
        </p:txBody>
      </p:sp>
    </p:spTree>
    <p:extLst>
      <p:ext uri="{BB962C8B-B14F-4D97-AF65-F5344CB8AC3E}">
        <p14:creationId xmlns:p14="http://schemas.microsoft.com/office/powerpoint/2010/main" val="3515955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Variables </a:t>
            </a:r>
            <a:r>
              <a:rPr lang="fr-CA" b="1"/>
              <a:t>locales</a:t>
            </a:r>
          </a:p>
          <a:p>
            <a:pPr lvl="1"/>
            <a:r>
              <a:rPr lang="fr-CA"/>
              <a:t> Dans cette situation,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/>
              <a:t> est une variable </a:t>
            </a:r>
            <a:r>
              <a:rPr lang="fr-CA">
                <a:solidFill>
                  <a:srgbClr val="FA4098"/>
                </a:solidFill>
              </a:rPr>
              <a:t>locale</a:t>
            </a:r>
            <a:r>
              <a:rPr lang="fr-CA"/>
              <a:t>. Elle ne peut être utilisée que « localement », c’est-à-dire seulement à l’intérieur de la </a:t>
            </a:r>
            <a:r>
              <a:rPr lang="fr-CA" b="1"/>
              <a:t>fonction</a:t>
            </a:r>
            <a:r>
              <a:rPr lang="fr-CA"/>
              <a:t> ou du « </a:t>
            </a:r>
            <a:r>
              <a:rPr lang="fr-CA" b="1"/>
              <a:t>bloc</a:t>
            </a:r>
            <a:r>
              <a:rPr lang="fr-CA"/>
              <a:t> » de code où elle est déclarée.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5D4095F3-CB50-4CB1-AA69-DDAB413FB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821" y="3176597"/>
            <a:ext cx="7012358" cy="225492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9754326-5621-4DC7-B404-F28938E13E6A}"/>
              </a:ext>
            </a:extLst>
          </p:cNvPr>
          <p:cNvSpPr/>
          <p:nvPr/>
        </p:nvSpPr>
        <p:spPr>
          <a:xfrm>
            <a:off x="3559962" y="3511297"/>
            <a:ext cx="633599" cy="243840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EAF530-D5A4-41E1-BC59-8EA65CD1D8EB}"/>
              </a:ext>
            </a:extLst>
          </p:cNvPr>
          <p:cNvSpPr/>
          <p:nvPr/>
        </p:nvSpPr>
        <p:spPr>
          <a:xfrm>
            <a:off x="8333130" y="3773424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DF66B8-0D70-4EA7-BB06-1948F87C56AB}"/>
              </a:ext>
            </a:extLst>
          </p:cNvPr>
          <p:cNvSpPr/>
          <p:nvPr/>
        </p:nvSpPr>
        <p:spPr>
          <a:xfrm>
            <a:off x="8790985" y="4878366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8A03715-C0E1-4895-90C6-5DE68E88DEC3}"/>
              </a:ext>
            </a:extLst>
          </p:cNvPr>
          <p:cNvSpPr txBox="1"/>
          <p:nvPr/>
        </p:nvSpPr>
        <p:spPr>
          <a:xfrm>
            <a:off x="9652677" y="4782664"/>
            <a:ext cx="1743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🚫💩</a:t>
            </a:r>
            <a:endParaRPr lang="fr-CA" sz="2400"/>
          </a:p>
        </p:txBody>
      </p:sp>
    </p:spTree>
    <p:extLst>
      <p:ext uri="{BB962C8B-B14F-4D97-AF65-F5344CB8AC3E}">
        <p14:creationId xmlns:p14="http://schemas.microsoft.com/office/powerpoint/2010/main" val="1019510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>
            <a:extLst>
              <a:ext uri="{FF2B5EF4-FFF2-40B4-BE49-F238E27FC236}">
                <a16:creationId xmlns:a16="http://schemas.microsoft.com/office/drawing/2014/main" id="{45F26AED-CCF4-4566-B944-99170698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278" y="3828537"/>
            <a:ext cx="6425798" cy="239404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Variables </a:t>
            </a:r>
            <a:r>
              <a:rPr lang="fr-CA" b="1"/>
              <a:t>globales</a:t>
            </a:r>
          </a:p>
          <a:p>
            <a:pPr lvl="1"/>
            <a:r>
              <a:rPr lang="fr-CA"/>
              <a:t> Une variable dite « </a:t>
            </a:r>
            <a:r>
              <a:rPr lang="fr-CA">
                <a:solidFill>
                  <a:srgbClr val="FA4098"/>
                </a:solidFill>
              </a:rPr>
              <a:t>globale </a:t>
            </a:r>
            <a:r>
              <a:rPr lang="fr-CA"/>
              <a:t>» peut être utilisée </a:t>
            </a:r>
            <a:r>
              <a:rPr lang="fr-CA" u="sng"/>
              <a:t>n’importe où</a:t>
            </a:r>
            <a:r>
              <a:rPr lang="fr-CA"/>
              <a:t> dans le code.</a:t>
            </a:r>
          </a:p>
          <a:p>
            <a:pPr lvl="1"/>
            <a:endParaRPr lang="fr-CA"/>
          </a:p>
          <a:p>
            <a:pPr lvl="1"/>
            <a:r>
              <a:rPr lang="fr-CA"/>
              <a:t>Les variables </a:t>
            </a:r>
            <a:r>
              <a:rPr lang="fr-CA">
                <a:solidFill>
                  <a:srgbClr val="FA4098"/>
                </a:solidFill>
              </a:rPr>
              <a:t>globales</a:t>
            </a:r>
            <a:r>
              <a:rPr lang="fr-CA"/>
              <a:t> doivent être déclarées en dehors de toute fonction, dans n’importe quel fichier JavaScript du projet Web.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3C76AD6-12BB-49BA-BB4E-15722DE2C2C3}"/>
              </a:ext>
            </a:extLst>
          </p:cNvPr>
          <p:cNvSpPr txBox="1"/>
          <p:nvPr/>
        </p:nvSpPr>
        <p:spPr>
          <a:xfrm>
            <a:off x="51900" y="3828537"/>
            <a:ext cx="444497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sz="2000">
                <a:solidFill>
                  <a:srgbClr val="739CD1"/>
                </a:solidFill>
              </a:rPr>
              <a:t>Ici, la variable </a:t>
            </a:r>
            <a:r>
              <a:rPr lang="fr-CA" sz="2000">
                <a:solidFill>
                  <a:srgbClr val="FA4098"/>
                </a:solidFill>
              </a:rPr>
              <a:t>gTexte</a:t>
            </a:r>
            <a:r>
              <a:rPr lang="fr-CA" sz="2000">
                <a:solidFill>
                  <a:srgbClr val="739CD1"/>
                </a:solidFill>
              </a:rPr>
              <a:t> est déclarée en dehors de toute fonction, au début du code.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 sz="2000">
              <a:solidFill>
                <a:srgbClr val="739CD1"/>
              </a:solidFill>
            </a:endParaRPr>
          </a:p>
          <a:p>
            <a:endParaRPr lang="fr-CA" sz="2000">
              <a:solidFill>
                <a:srgbClr val="739CD1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sz="2000">
                <a:solidFill>
                  <a:srgbClr val="739CD1"/>
                </a:solidFill>
              </a:rPr>
              <a:t>Elle est donc utilisable n’importe où dans les </a:t>
            </a:r>
            <a:r>
              <a:rPr lang="fr-CA" sz="2000" b="1">
                <a:solidFill>
                  <a:srgbClr val="739CD1"/>
                </a:solidFill>
              </a:rPr>
              <a:t>fonctions</a:t>
            </a:r>
            <a:r>
              <a:rPr lang="fr-CA" sz="2000">
                <a:solidFill>
                  <a:srgbClr val="739CD1"/>
                </a:solidFill>
              </a:rPr>
              <a:t> qui suivent.</a:t>
            </a:r>
          </a:p>
        </p:txBody>
      </p: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62E64B0F-B02F-4C61-8D83-4A2050648A3F}"/>
              </a:ext>
            </a:extLst>
          </p:cNvPr>
          <p:cNvCxnSpPr>
            <a:cxnSpLocks/>
          </p:cNvCxnSpPr>
          <p:nvPr/>
        </p:nvCxnSpPr>
        <p:spPr>
          <a:xfrm flipV="1">
            <a:off x="4353533" y="4809744"/>
            <a:ext cx="1632739" cy="802483"/>
          </a:xfrm>
          <a:prstGeom prst="bentConnector3">
            <a:avLst>
              <a:gd name="adj1" fmla="val 50000"/>
            </a:avLst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BF64D6E7-F570-4D30-AD7E-F04C57A494E0}"/>
              </a:ext>
            </a:extLst>
          </p:cNvPr>
          <p:cNvCxnSpPr>
            <a:cxnSpLocks/>
          </p:cNvCxnSpPr>
          <p:nvPr/>
        </p:nvCxnSpPr>
        <p:spPr>
          <a:xfrm>
            <a:off x="4353533" y="5612227"/>
            <a:ext cx="1632739" cy="294797"/>
          </a:xfrm>
          <a:prstGeom prst="bentConnector3">
            <a:avLst>
              <a:gd name="adj1" fmla="val 50000"/>
            </a:avLst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B5F7EDB-D2FC-40CD-BB05-A9966E9F0F95}"/>
              </a:ext>
            </a:extLst>
          </p:cNvPr>
          <p:cNvCxnSpPr>
            <a:cxnSpLocks/>
          </p:cNvCxnSpPr>
          <p:nvPr/>
        </p:nvCxnSpPr>
        <p:spPr>
          <a:xfrm>
            <a:off x="4309872" y="4115173"/>
            <a:ext cx="1403069" cy="0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854C5D0-F7B4-48A6-ABB1-DB7C7ED711C2}"/>
              </a:ext>
            </a:extLst>
          </p:cNvPr>
          <p:cNvSpPr/>
          <p:nvPr/>
        </p:nvSpPr>
        <p:spPr>
          <a:xfrm>
            <a:off x="6094200" y="3944809"/>
            <a:ext cx="700135" cy="279767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76F91F-F46E-405E-93A0-8F1BCA545386}"/>
              </a:ext>
            </a:extLst>
          </p:cNvPr>
          <p:cNvSpPr/>
          <p:nvPr/>
        </p:nvSpPr>
        <p:spPr>
          <a:xfrm>
            <a:off x="10710672" y="4702361"/>
            <a:ext cx="835151" cy="294796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975EF3-5E63-40F1-9AA8-9F4E793D6FD5}"/>
              </a:ext>
            </a:extLst>
          </p:cNvPr>
          <p:cNvSpPr/>
          <p:nvPr/>
        </p:nvSpPr>
        <p:spPr>
          <a:xfrm>
            <a:off x="11125201" y="5651543"/>
            <a:ext cx="792396" cy="355756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16044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E6681A1-8574-45DD-AD09-A07ABC179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Convention de nommage</a:t>
            </a:r>
          </a:p>
          <a:p>
            <a:pPr lvl="1"/>
            <a:r>
              <a:rPr lang="fr-CA"/>
              <a:t> Pour dissiper le doute </a:t>
            </a:r>
            <a:r>
              <a:rPr lang="en-CA"/>
              <a:t>🕵️‍♂️</a:t>
            </a:r>
            <a:r>
              <a:rPr lang="fr-CA"/>
              <a:t>, nous ajouterons toujours un </a:t>
            </a:r>
            <a:r>
              <a:rPr lang="fr-CA">
                <a:solidFill>
                  <a:srgbClr val="FA4098"/>
                </a:solidFill>
              </a:rPr>
              <a:t>g</a:t>
            </a:r>
            <a:r>
              <a:rPr lang="fr-CA"/>
              <a:t> devant le nom d’une variable globale.</a:t>
            </a:r>
          </a:p>
          <a:p>
            <a:pPr lvl="2"/>
            <a:r>
              <a:rPr lang="fr-CA"/>
              <a:t> De plus, nous déclararons toujours les variables globales </a:t>
            </a:r>
            <a:r>
              <a:rPr lang="fr-CA" u="sng"/>
              <a:t>tout en haut</a:t>
            </a:r>
            <a:r>
              <a:rPr lang="fr-CA"/>
              <a:t> du fichier .js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9089BE1-E0B0-4E6C-981B-F9212F4DD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5189774-13AF-427D-9AB9-E25A66ABD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858" y="3220082"/>
            <a:ext cx="7870923" cy="3280089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7FC798F-FA6A-405F-BC56-EE364FB2DA46}"/>
              </a:ext>
            </a:extLst>
          </p:cNvPr>
          <p:cNvSpPr/>
          <p:nvPr/>
        </p:nvSpPr>
        <p:spPr>
          <a:xfrm>
            <a:off x="2859024" y="3681984"/>
            <a:ext cx="688848" cy="14020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24376722-CC5A-45E1-82C9-E91EDB65F027}"/>
              </a:ext>
            </a:extLst>
          </p:cNvPr>
          <p:cNvSpPr/>
          <p:nvPr/>
        </p:nvSpPr>
        <p:spPr>
          <a:xfrm flipH="1">
            <a:off x="3206656" y="3930707"/>
            <a:ext cx="302622" cy="978187"/>
          </a:xfrm>
          <a:prstGeom prst="rightBrace">
            <a:avLst>
              <a:gd name="adj1" fmla="val 34770"/>
              <a:gd name="adj2" fmla="val 50000"/>
            </a:avLst>
          </a:prstGeom>
          <a:ln w="28575">
            <a:solidFill>
              <a:srgbClr val="739C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6DB6E4D-85B6-4A1F-9B44-77CE9EBFF224}"/>
              </a:ext>
            </a:extLst>
          </p:cNvPr>
          <p:cNvSpPr txBox="1"/>
          <p:nvPr/>
        </p:nvSpPr>
        <p:spPr>
          <a:xfrm>
            <a:off x="1996439" y="4096634"/>
            <a:ext cx="119089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Variables globales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B302E7F-E457-4D89-98A8-222BAC41131E}"/>
              </a:ext>
            </a:extLst>
          </p:cNvPr>
          <p:cNvSpPr txBox="1"/>
          <p:nvPr/>
        </p:nvSpPr>
        <p:spPr>
          <a:xfrm>
            <a:off x="657381" y="5288329"/>
            <a:ext cx="1591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Variable locale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F9EA1E2-1DCF-42D3-840C-BC6BB13B906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2248437" y="5472995"/>
            <a:ext cx="1616427" cy="0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789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 Constantes</a:t>
            </a:r>
          </a:p>
          <a:p>
            <a:pPr lvl="1"/>
            <a:r>
              <a:rPr lang="fr-CA" dirty="0"/>
              <a:t> Globales ou locales</a:t>
            </a:r>
          </a:p>
          <a:p>
            <a:pPr lvl="2"/>
            <a:r>
              <a:rPr lang="fr-CA" dirty="0"/>
              <a:t> Tout comme les variables déclarées avec «</a:t>
            </a:r>
            <a:r>
              <a:rPr lang="fr-CA" b="1" dirty="0">
                <a:solidFill>
                  <a:srgbClr val="FA4098"/>
                </a:solidFill>
              </a:rPr>
              <a:t> let </a:t>
            </a:r>
            <a:r>
              <a:rPr lang="fr-CA" dirty="0"/>
              <a:t>», une variable </a:t>
            </a:r>
            <a:r>
              <a:rPr lang="fr-CA" b="1" dirty="0"/>
              <a:t>constante</a:t>
            </a:r>
            <a:r>
              <a:rPr lang="fr-CA" dirty="0"/>
              <a:t> peut être </a:t>
            </a:r>
            <a:r>
              <a:rPr lang="fr-CA" b="1" dirty="0"/>
              <a:t>globale</a:t>
            </a:r>
            <a:r>
              <a:rPr lang="fr-CA" dirty="0"/>
              <a:t> ou </a:t>
            </a:r>
            <a:r>
              <a:rPr lang="fr-CA" b="1" dirty="0"/>
              <a:t>locale</a:t>
            </a:r>
            <a:r>
              <a:rPr lang="fr-CA" dirty="0"/>
              <a:t>, selon l’endroit où on l’a déclarée.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</a:t>
            </a:r>
            <a:r>
              <a:rPr lang="fr-CA" b="1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gUSD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_TO_</a:t>
            </a:r>
            <a:r>
              <a:rPr lang="fr-CA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CAD</a:t>
            </a:r>
            <a:r>
              <a:rPr lang="fr-CA" dirty="0"/>
              <a:t> : Déclarée hors fonction, donc </a:t>
            </a:r>
            <a:r>
              <a:rPr lang="fr-CA" b="1" dirty="0"/>
              <a:t>globale</a:t>
            </a:r>
            <a:r>
              <a:rPr lang="fr-CA" dirty="0"/>
              <a:t>. Peut être utilisée n’importe où dans le code.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fr-CA"/>
              <a:t> </a:t>
            </a:r>
            <a:r>
              <a:rPr lang="fr-CA" dirty="0"/>
              <a:t>: Déclarée dans une fonction, donc </a:t>
            </a:r>
            <a:r>
              <a:rPr lang="fr-CA" b="1" dirty="0"/>
              <a:t>locale</a:t>
            </a:r>
            <a:r>
              <a:rPr lang="fr-CA" dirty="0"/>
              <a:t>. Peut seulement être utilisée dans la fonction où elle a été déclarée.</a:t>
            </a:r>
          </a:p>
          <a:p>
            <a:pPr lvl="3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À éviter </a:t>
            </a:r>
            <a:r>
              <a:rPr lang="fr-CA" dirty="0"/>
              <a:t>: en général on veut que nos constantes soient </a:t>
            </a:r>
            <a:r>
              <a:rPr lang="fr-CA"/>
              <a:t>globales. </a:t>
            </a:r>
            <a:r>
              <a:rPr lang="en-CA"/>
              <a:t>❗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C92E28-6FA9-43B1-BE28-38E0BD58E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632" y="2672533"/>
            <a:ext cx="3326736" cy="161905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990740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Booléens</a:t>
            </a:r>
          </a:p>
          <a:p>
            <a:pPr lvl="1"/>
            <a:r>
              <a:rPr lang="fr-CA"/>
              <a:t> C’est un autre </a:t>
            </a:r>
            <a:r>
              <a:rPr lang="fr-CA" b="1"/>
              <a:t>type de données</a:t>
            </a:r>
            <a:r>
              <a:rPr lang="fr-CA"/>
              <a:t>. (Nous avons vu </a:t>
            </a:r>
            <a:r>
              <a:rPr lang="fr-CA" b="1"/>
              <a:t>nombres</a:t>
            </a:r>
            <a:r>
              <a:rPr lang="fr-CA"/>
              <a:t>, </a:t>
            </a:r>
            <a:r>
              <a:rPr lang="fr-CA" b="1"/>
              <a:t>nombres décimaux</a:t>
            </a:r>
            <a:r>
              <a:rPr lang="fr-CA"/>
              <a:t> et </a:t>
            </a:r>
            <a:r>
              <a:rPr lang="fr-CA" b="1"/>
              <a:t>chaînes de caractères</a:t>
            </a:r>
            <a:r>
              <a:rPr lang="fr-CA"/>
              <a:t> pour le moment)</a:t>
            </a:r>
          </a:p>
          <a:p>
            <a:pPr lvl="1"/>
            <a:r>
              <a:rPr lang="fr-CA"/>
              <a:t> Les </a:t>
            </a:r>
            <a:r>
              <a:rPr lang="fr-CA" i="1"/>
              <a:t>booléens</a:t>
            </a:r>
            <a:r>
              <a:rPr lang="fr-CA"/>
              <a:t> ont seulement 2 valeurs possibles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true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false</a:t>
            </a:r>
          </a:p>
          <a:p>
            <a:pPr lvl="1"/>
            <a:r>
              <a:rPr lang="fr-CA"/>
              <a:t> Ils permettent d’exprimer que quelque chose est </a:t>
            </a:r>
            <a:r>
              <a:rPr lang="fr-CA" b="1"/>
              <a:t>vrai</a:t>
            </a:r>
            <a:r>
              <a:rPr lang="fr-CA"/>
              <a:t> ou </a:t>
            </a:r>
            <a:r>
              <a:rPr lang="fr-CA" b="1"/>
              <a:t>faux</a:t>
            </a:r>
            <a:r>
              <a:rPr lang="fr-CA"/>
              <a:t>. Exemples :</a:t>
            </a:r>
          </a:p>
          <a:p>
            <a:pPr lvl="2"/>
            <a:r>
              <a:rPr lang="fr-CA"/>
              <a:t> Avez-vous les yeux bleus ? </a:t>
            </a:r>
            <a:r>
              <a:rPr lang="en-CA">
                <a:solidFill>
                  <a:schemeClr val="tx1"/>
                </a:solidFill>
              </a:rPr>
              <a:t>👁</a:t>
            </a:r>
            <a:endParaRPr lang="fr-CA">
              <a:solidFill>
                <a:schemeClr val="tx1"/>
              </a:solidFill>
            </a:endParaRPr>
          </a:p>
          <a:p>
            <a:pPr lvl="2"/>
            <a:r>
              <a:rPr lang="fr-CA"/>
              <a:t> Êtes-vous majeurs ? </a:t>
            </a:r>
            <a:r>
              <a:rPr lang="en-CA"/>
              <a:t>🍷🚬</a:t>
            </a:r>
            <a:endParaRPr lang="fr-CA"/>
          </a:p>
          <a:p>
            <a:pPr lvl="2"/>
            <a:r>
              <a:rPr lang="fr-CA"/>
              <a:t> Votre prénom contient-il la lettre T ? </a:t>
            </a:r>
            <a:r>
              <a:rPr lang="en-CA"/>
              <a:t>🤔</a:t>
            </a:r>
            <a:endParaRPr lang="fr-CA"/>
          </a:p>
          <a:p>
            <a:pPr lvl="2"/>
            <a:r>
              <a:rPr lang="fr-CA"/>
              <a:t> Avez-vous déjà utilisé un extincteur ? </a:t>
            </a:r>
            <a:r>
              <a:rPr lang="en-CA"/>
              <a:t>🔥</a:t>
            </a:r>
            <a:endParaRPr lang="fr-CA"/>
          </a:p>
          <a:p>
            <a:pPr lvl="1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Booléens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3C5D57E-2177-4882-9729-6BE8B4D13A21}"/>
              </a:ext>
            </a:extLst>
          </p:cNvPr>
          <p:cNvSpPr txBox="1"/>
          <p:nvPr/>
        </p:nvSpPr>
        <p:spPr>
          <a:xfrm>
            <a:off x="1615164" y="5530634"/>
            <a:ext cx="9278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85D1"/>
                </a:solidFill>
              </a:rPr>
              <a:t>Par exemple, </a:t>
            </a:r>
            <a:r>
              <a:rPr lang="fr-CA">
                <a:solidFill>
                  <a:srgbClr val="FA4098"/>
                </a:solidFill>
              </a:rPr>
              <a:t>Simone</a:t>
            </a:r>
            <a:r>
              <a:rPr lang="fr-CA">
                <a:solidFill>
                  <a:srgbClr val="7385D1"/>
                </a:solidFill>
              </a:rPr>
              <a:t>, qui a les yeux </a:t>
            </a:r>
            <a:r>
              <a:rPr lang="fr-CA">
                <a:solidFill>
                  <a:srgbClr val="FA4098"/>
                </a:solidFill>
              </a:rPr>
              <a:t>verts</a:t>
            </a:r>
            <a:r>
              <a:rPr lang="fr-CA">
                <a:solidFill>
                  <a:srgbClr val="7385D1"/>
                </a:solidFill>
              </a:rPr>
              <a:t>, qui a </a:t>
            </a:r>
            <a:r>
              <a:rPr lang="fr-CA">
                <a:solidFill>
                  <a:srgbClr val="FA4098"/>
                </a:solidFill>
              </a:rPr>
              <a:t>47 ans</a:t>
            </a:r>
            <a:r>
              <a:rPr lang="fr-CA">
                <a:solidFill>
                  <a:srgbClr val="7385D1"/>
                </a:solidFill>
              </a:rPr>
              <a:t> et qui n’a jamais assisté à une incendie, on pourrait répondre, dans l’ordre : false</a:t>
            </a:r>
            <a:r>
              <a:rPr lang="en-CA"/>
              <a:t> 👁</a:t>
            </a:r>
            <a:r>
              <a:rPr lang="fr-CA">
                <a:solidFill>
                  <a:srgbClr val="7385D1"/>
                </a:solidFill>
              </a:rPr>
              <a:t>, true </a:t>
            </a:r>
            <a:r>
              <a:rPr lang="en-CA"/>
              <a:t>🍷🚬</a:t>
            </a:r>
            <a:r>
              <a:rPr lang="fr-CA">
                <a:solidFill>
                  <a:srgbClr val="7385D1"/>
                </a:solidFill>
              </a:rPr>
              <a:t>, false </a:t>
            </a:r>
            <a:r>
              <a:rPr lang="en-CA"/>
              <a:t>🤔</a:t>
            </a:r>
            <a:r>
              <a:rPr lang="fr-CA">
                <a:solidFill>
                  <a:srgbClr val="7385D1"/>
                </a:solidFill>
              </a:rPr>
              <a:t>, false</a:t>
            </a:r>
            <a:r>
              <a:rPr lang="en-CA"/>
              <a:t> 🔥</a:t>
            </a:r>
            <a:r>
              <a:rPr lang="fr-CA">
                <a:solidFill>
                  <a:srgbClr val="7385D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990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Booléens</a:t>
            </a:r>
          </a:p>
          <a:p>
            <a:pPr lvl="1"/>
            <a:r>
              <a:rPr lang="fr-CA"/>
              <a:t> Ce sont des </a:t>
            </a:r>
            <a:r>
              <a:rPr lang="fr-CA" b="1"/>
              <a:t>valeurs</a:t>
            </a:r>
            <a:r>
              <a:rPr lang="fr-CA"/>
              <a:t> qu’on peut affecter à des </a:t>
            </a:r>
            <a:r>
              <a:rPr lang="fr-CA" b="1"/>
              <a:t>variables</a:t>
            </a:r>
            <a:endParaRPr lang="fr-CA"/>
          </a:p>
          <a:p>
            <a:pPr lvl="2"/>
            <a:r>
              <a:rPr lang="fr-CA"/>
              <a:t> Attention ! Ce ne sont PAS des </a:t>
            </a:r>
            <a:r>
              <a:rPr lang="fr-CA" b="1"/>
              <a:t>chaînes de caractères</a:t>
            </a:r>
            <a:r>
              <a:rPr lang="fr-CA"/>
              <a:t> !</a:t>
            </a:r>
          </a:p>
          <a:p>
            <a:pPr lvl="1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Booléens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718EBCF-AB2B-4A16-9E1F-3655A7B3F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172" y="2672770"/>
            <a:ext cx="2372056" cy="1019317"/>
          </a:xfrm>
          <a:prstGeom prst="rect">
            <a:avLst/>
          </a:prstGeom>
          <a:noFill/>
          <a:ln w="1905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99032DB-75C3-44D6-8FE4-D254FC75B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452" y="4438039"/>
            <a:ext cx="2467319" cy="724001"/>
          </a:xfrm>
          <a:prstGeom prst="rect">
            <a:avLst/>
          </a:prstGeom>
          <a:ln w="19050">
            <a:solidFill>
              <a:srgbClr val="739CD1"/>
            </a:solidFill>
          </a:ln>
        </p:spPr>
      </p:pic>
      <p:sp>
        <p:nvSpPr>
          <p:cNvPr id="8" name="Interdiction 7">
            <a:extLst>
              <a:ext uri="{FF2B5EF4-FFF2-40B4-BE49-F238E27FC236}">
                <a16:creationId xmlns:a16="http://schemas.microsoft.com/office/drawing/2014/main" id="{1CE20767-D808-4D0C-AD3F-857963D134EE}"/>
              </a:ext>
            </a:extLst>
          </p:cNvPr>
          <p:cNvSpPr/>
          <p:nvPr/>
        </p:nvSpPr>
        <p:spPr>
          <a:xfrm>
            <a:off x="2277382" y="4556672"/>
            <a:ext cx="505968" cy="505968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C3ACF38-AC21-4AB8-B981-64101D5858F1}"/>
              </a:ext>
            </a:extLst>
          </p:cNvPr>
          <p:cNvSpPr txBox="1"/>
          <p:nvPr/>
        </p:nvSpPr>
        <p:spPr>
          <a:xfrm>
            <a:off x="5394960" y="4438039"/>
            <a:ext cx="527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FA4098"/>
                </a:solidFill>
              </a:rPr>
              <a:t>"true" </a:t>
            </a:r>
            <a:r>
              <a:rPr lang="fr-CA">
                <a:solidFill>
                  <a:srgbClr val="739CD1"/>
                </a:solidFill>
              </a:rPr>
              <a:t>est complètement différent de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>
                <a:solidFill>
                  <a:srgbClr val="739CD1"/>
                </a:solidFill>
              </a:rPr>
              <a:t>. </a:t>
            </a:r>
            <a:r>
              <a:rPr lang="fr-CA">
                <a:solidFill>
                  <a:srgbClr val="FA4098"/>
                </a:solidFill>
              </a:rPr>
              <a:t>"true"</a:t>
            </a:r>
            <a:r>
              <a:rPr lang="fr-CA">
                <a:solidFill>
                  <a:srgbClr val="739CD1"/>
                </a:solidFill>
              </a:rPr>
              <a:t>, c’est une chaîne de caractères quelconque.</a:t>
            </a:r>
          </a:p>
        </p:txBody>
      </p:sp>
    </p:spTree>
    <p:extLst>
      <p:ext uri="{BB962C8B-B14F-4D97-AF65-F5344CB8AC3E}">
        <p14:creationId xmlns:p14="http://schemas.microsoft.com/office/powerpoint/2010/main" val="2437627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Opérateurs de comparaison</a:t>
            </a:r>
          </a:p>
          <a:p>
            <a:pPr lvl="1"/>
            <a:r>
              <a:rPr lang="fr-CA" dirty="0"/>
              <a:t> Donnent un résultat qui est </a:t>
            </a:r>
            <a:r>
              <a:rPr lang="fr-CA" b="1" dirty="0" err="1">
                <a:solidFill>
                  <a:srgbClr val="73B3D1"/>
                </a:solidFill>
              </a:rPr>
              <a:t>true</a:t>
            </a:r>
            <a:r>
              <a:rPr lang="fr-CA" dirty="0"/>
              <a:t> ou </a:t>
            </a:r>
            <a:r>
              <a:rPr lang="fr-CA" b="1" dirty="0">
                <a:solidFill>
                  <a:srgbClr val="73B3D1"/>
                </a:solidFill>
              </a:rPr>
              <a:t>false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Plus grand que		 </a:t>
            </a:r>
            <a:r>
              <a:rPr lang="fr-CA" b="1" dirty="0">
                <a:solidFill>
                  <a:srgbClr val="FA4098"/>
                </a:solidFill>
              </a:rPr>
              <a:t>&gt;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grand ou égal	 </a:t>
            </a:r>
            <a:r>
              <a:rPr lang="fr-CA" b="1" dirty="0">
                <a:solidFill>
                  <a:srgbClr val="FA4098"/>
                </a:solidFill>
              </a:rPr>
              <a:t>&gt;=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petit 		 </a:t>
            </a:r>
            <a:r>
              <a:rPr lang="fr-CA" b="1" dirty="0">
                <a:solidFill>
                  <a:srgbClr val="FA4098"/>
                </a:solidFill>
              </a:rPr>
              <a:t>&lt;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Plus petit ou égal 	 </a:t>
            </a:r>
            <a:r>
              <a:rPr lang="fr-CA" b="1" dirty="0">
                <a:solidFill>
                  <a:srgbClr val="FA4098"/>
                </a:solidFill>
              </a:rPr>
              <a:t>&lt;=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Égal 			 </a:t>
            </a:r>
            <a:r>
              <a:rPr lang="fr-CA" b="1" dirty="0">
                <a:solidFill>
                  <a:srgbClr val="FA4098"/>
                </a:solidFill>
              </a:rPr>
              <a:t>==</a:t>
            </a:r>
          </a:p>
          <a:p>
            <a:pPr lvl="1"/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Pas égal 			 </a:t>
            </a:r>
            <a:r>
              <a:rPr lang="fr-CA" b="1" dirty="0">
                <a:solidFill>
                  <a:srgbClr val="FA4098"/>
                </a:solidFill>
              </a:rPr>
              <a:t>!=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de comparaison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B1956F3-AB3E-4659-8FBA-0029E16D5B85}"/>
              </a:ext>
            </a:extLst>
          </p:cNvPr>
          <p:cNvSpPr txBox="1"/>
          <p:nvPr/>
        </p:nvSpPr>
        <p:spPr>
          <a:xfrm>
            <a:off x="5807547" y="2150841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9073D1"/>
                </a:solidFill>
              </a:rPr>
              <a:t>5.5 </a:t>
            </a:r>
            <a:r>
              <a:rPr lang="fr-CA" sz="2400" b="1" dirty="0">
                <a:solidFill>
                  <a:srgbClr val="FA4098"/>
                </a:solidFill>
              </a:rPr>
              <a:t>&gt;</a:t>
            </a:r>
            <a:r>
              <a:rPr lang="fr-CA" sz="2400" dirty="0">
                <a:solidFill>
                  <a:srgbClr val="9073D1"/>
                </a:solidFill>
              </a:rPr>
              <a:t> 6.5 (</a:t>
            </a:r>
            <a:r>
              <a:rPr lang="fr-CA" sz="2400" b="1" dirty="0">
                <a:solidFill>
                  <a:srgbClr val="73B3D1"/>
                </a:solidFill>
              </a:rPr>
              <a:t>false</a:t>
            </a:r>
            <a:r>
              <a:rPr lang="fr-CA" sz="2400" dirty="0">
                <a:solidFill>
                  <a:srgbClr val="9073D1"/>
                </a:solidFill>
              </a:rPr>
              <a:t>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25B6A9D-BA64-4312-9F42-1F531CC7F1C9}"/>
              </a:ext>
            </a:extLst>
          </p:cNvPr>
          <p:cNvSpPr txBox="1"/>
          <p:nvPr/>
        </p:nvSpPr>
        <p:spPr>
          <a:xfrm>
            <a:off x="5807547" y="2807094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5 + 2 </a:t>
            </a:r>
            <a:r>
              <a:rPr lang="fr-CA" sz="2400" b="1">
                <a:solidFill>
                  <a:srgbClr val="FA4098"/>
                </a:solidFill>
              </a:rPr>
              <a:t>&gt;=</a:t>
            </a:r>
            <a:r>
              <a:rPr lang="fr-CA" sz="2400">
                <a:solidFill>
                  <a:srgbClr val="9073D1"/>
                </a:solidFill>
              </a:rPr>
              <a:t> 5 (</a:t>
            </a:r>
            <a:r>
              <a:rPr lang="fr-CA" sz="2400" b="1">
                <a:solidFill>
                  <a:srgbClr val="73B3D1"/>
                </a:solidFill>
              </a:rPr>
              <a:t>true</a:t>
            </a:r>
            <a:r>
              <a:rPr lang="fr-CA" sz="2400">
                <a:solidFill>
                  <a:srgbClr val="9073D1"/>
                </a:solidFill>
              </a:rPr>
              <a:t>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D3521FF-7813-4A96-8202-BB11C9464FF7}"/>
              </a:ext>
            </a:extLst>
          </p:cNvPr>
          <p:cNvSpPr txBox="1"/>
          <p:nvPr/>
        </p:nvSpPr>
        <p:spPr>
          <a:xfrm>
            <a:off x="5807547" y="3474661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5 </a:t>
            </a:r>
            <a:r>
              <a:rPr lang="fr-CA" sz="2400" b="1">
                <a:solidFill>
                  <a:srgbClr val="FA4098"/>
                </a:solidFill>
              </a:rPr>
              <a:t>&lt;</a:t>
            </a:r>
            <a:r>
              <a:rPr lang="fr-CA" sz="2400">
                <a:solidFill>
                  <a:srgbClr val="9073D1"/>
                </a:solidFill>
              </a:rPr>
              <a:t> 7 (</a:t>
            </a:r>
            <a:r>
              <a:rPr lang="fr-CA" sz="2400" b="1">
                <a:solidFill>
                  <a:srgbClr val="73B3D1"/>
                </a:solidFill>
              </a:rPr>
              <a:t>true</a:t>
            </a:r>
            <a:r>
              <a:rPr lang="fr-CA" sz="2400">
                <a:solidFill>
                  <a:srgbClr val="9073D1"/>
                </a:solidFill>
              </a:rPr>
              <a:t>)          	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9D54BDF-5996-47A7-A0B6-47BE1B415397}"/>
              </a:ext>
            </a:extLst>
          </p:cNvPr>
          <p:cNvSpPr txBox="1"/>
          <p:nvPr/>
        </p:nvSpPr>
        <p:spPr>
          <a:xfrm>
            <a:off x="5807547" y="4136910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5 </a:t>
            </a:r>
            <a:r>
              <a:rPr lang="fr-CA" sz="2400" b="1">
                <a:solidFill>
                  <a:srgbClr val="FA4098"/>
                </a:solidFill>
              </a:rPr>
              <a:t>&lt;=</a:t>
            </a:r>
            <a:r>
              <a:rPr lang="fr-CA" sz="2400">
                <a:solidFill>
                  <a:srgbClr val="9073D1"/>
                </a:solidFill>
              </a:rPr>
              <a:t> 7 - 1 (</a:t>
            </a:r>
            <a:r>
              <a:rPr lang="fr-CA" sz="2400" b="1">
                <a:solidFill>
                  <a:srgbClr val="73B3D1"/>
                </a:solidFill>
              </a:rPr>
              <a:t>true</a:t>
            </a:r>
            <a:r>
              <a:rPr lang="fr-CA" sz="2400">
                <a:solidFill>
                  <a:srgbClr val="9073D1"/>
                </a:solidFill>
              </a:rPr>
              <a:t>)         	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4878D8D-E4F0-4A93-ADCB-F9AF7728AE3A}"/>
              </a:ext>
            </a:extLst>
          </p:cNvPr>
          <p:cNvSpPr txBox="1"/>
          <p:nvPr/>
        </p:nvSpPr>
        <p:spPr>
          <a:xfrm>
            <a:off x="5807547" y="4799159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5 - 4 </a:t>
            </a:r>
            <a:r>
              <a:rPr lang="fr-CA" sz="2400" b="1">
                <a:solidFill>
                  <a:srgbClr val="FA4098"/>
                </a:solidFill>
              </a:rPr>
              <a:t>==</a:t>
            </a:r>
            <a:r>
              <a:rPr lang="fr-CA" sz="2400">
                <a:solidFill>
                  <a:srgbClr val="9073D1"/>
                </a:solidFill>
              </a:rPr>
              <a:t> 7 (</a:t>
            </a:r>
            <a:r>
              <a:rPr lang="fr-CA" sz="2400" b="1">
                <a:solidFill>
                  <a:srgbClr val="73B3D1"/>
                </a:solidFill>
              </a:rPr>
              <a:t>false</a:t>
            </a:r>
            <a:r>
              <a:rPr lang="fr-CA" sz="2400">
                <a:solidFill>
                  <a:srgbClr val="9073D1"/>
                </a:solidFill>
              </a:rPr>
              <a:t>)         	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D75FEA5-DD7D-4D1B-98D6-9486CE9ACE5C}"/>
              </a:ext>
            </a:extLst>
          </p:cNvPr>
          <p:cNvSpPr txBox="1"/>
          <p:nvPr/>
        </p:nvSpPr>
        <p:spPr>
          <a:xfrm>
            <a:off x="5807547" y="5454102"/>
            <a:ext cx="612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dirty="0">
                <a:solidFill>
                  <a:srgbClr val="9073D1"/>
                </a:solidFill>
              </a:rPr>
              <a:t>5 </a:t>
            </a:r>
            <a:r>
              <a:rPr lang="fr-CA" sz="2400" b="1" dirty="0">
                <a:solidFill>
                  <a:srgbClr val="FA4098"/>
                </a:solidFill>
              </a:rPr>
              <a:t>!=</a:t>
            </a:r>
            <a:r>
              <a:rPr lang="fr-CA" sz="2400" dirty="0">
                <a:solidFill>
                  <a:srgbClr val="9073D1"/>
                </a:solidFill>
              </a:rPr>
              <a:t> 7 (</a:t>
            </a:r>
            <a:r>
              <a:rPr lang="fr-CA" sz="2400" b="1" dirty="0" err="1">
                <a:solidFill>
                  <a:srgbClr val="73B3D1"/>
                </a:solidFill>
              </a:rPr>
              <a:t>true</a:t>
            </a:r>
            <a:r>
              <a:rPr lang="fr-CA" sz="2400" dirty="0">
                <a:solidFill>
                  <a:srgbClr val="9073D1"/>
                </a:solidFill>
              </a:rPr>
              <a:t>)         	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2D57F29-7ED1-4DC5-9810-1BE38E5D1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3994" y="1689358"/>
            <a:ext cx="1533739" cy="762106"/>
          </a:xfrm>
          <a:prstGeom prst="rect">
            <a:avLst/>
          </a:prstGeom>
          <a:ln w="19050">
            <a:solidFill>
              <a:srgbClr val="7385D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341C114-E78F-4D86-B3CE-581114C64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994" y="2590144"/>
            <a:ext cx="2000529" cy="800212"/>
          </a:xfrm>
          <a:prstGeom prst="rect">
            <a:avLst/>
          </a:prstGeom>
          <a:ln w="19050">
            <a:solidFill>
              <a:srgbClr val="7385D1"/>
            </a:solidFill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CF7362B-546D-42F7-952B-3FBC4448F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039" y="3889432"/>
            <a:ext cx="2410161" cy="1686160"/>
          </a:xfrm>
          <a:prstGeom prst="rect">
            <a:avLst/>
          </a:prstGeom>
          <a:ln w="19050">
            <a:solidFill>
              <a:srgbClr val="7385D1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0FE8611-02A7-4060-A66E-0AD411157B52}"/>
              </a:ext>
            </a:extLst>
          </p:cNvPr>
          <p:cNvSpPr txBox="1"/>
          <p:nvPr/>
        </p:nvSpPr>
        <p:spPr>
          <a:xfrm>
            <a:off x="8405832" y="5595080"/>
            <a:ext cx="3803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>
                <a:solidFill>
                  <a:srgbClr val="7385D1"/>
                </a:solidFill>
              </a:rPr>
              <a:t>Au lieu d’assigner directement </a:t>
            </a:r>
            <a:r>
              <a:rPr lang="fr-CA" sz="1600">
                <a:solidFill>
                  <a:srgbClr val="FA4098"/>
                </a:solidFill>
              </a:rPr>
              <a:t>true</a:t>
            </a:r>
            <a:r>
              <a:rPr lang="fr-CA" sz="1600">
                <a:solidFill>
                  <a:srgbClr val="7385D1"/>
                </a:solidFill>
              </a:rPr>
              <a:t> ou </a:t>
            </a:r>
            <a:r>
              <a:rPr lang="fr-CA" sz="1600">
                <a:solidFill>
                  <a:srgbClr val="FA4098"/>
                </a:solidFill>
              </a:rPr>
              <a:t>false</a:t>
            </a:r>
            <a:r>
              <a:rPr lang="fr-CA" sz="1600">
                <a:solidFill>
                  <a:srgbClr val="7385D1"/>
                </a:solidFill>
              </a:rPr>
              <a:t>, on peut le faire via une vérification comme ceci.</a:t>
            </a:r>
          </a:p>
        </p:txBody>
      </p:sp>
    </p:spTree>
    <p:extLst>
      <p:ext uri="{BB962C8B-B14F-4D97-AF65-F5344CB8AC3E}">
        <p14:creationId xmlns:p14="http://schemas.microsoft.com/office/powerpoint/2010/main" val="17867741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D09E97C-990E-47FB-9591-572E99591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 b="1">
                <a:solidFill>
                  <a:srgbClr val="73B3D1"/>
                </a:solidFill>
              </a:rPr>
              <a:t>Opérateurs de comparaison (Avec des chaînes de caractère)</a:t>
            </a:r>
          </a:p>
          <a:p>
            <a:pPr lvl="1"/>
            <a:r>
              <a:rPr lang="fr-CA"/>
              <a:t> Donnent un résultat qui est </a:t>
            </a:r>
            <a:r>
              <a:rPr lang="fr-CA" b="1">
                <a:solidFill>
                  <a:srgbClr val="73B3D1"/>
                </a:solidFill>
              </a:rPr>
              <a:t>true</a:t>
            </a:r>
            <a:r>
              <a:rPr lang="fr-CA"/>
              <a:t> ou </a:t>
            </a:r>
            <a:r>
              <a:rPr lang="fr-CA" b="1">
                <a:solidFill>
                  <a:srgbClr val="73B3D1"/>
                </a:solidFill>
              </a:rPr>
              <a:t>false</a:t>
            </a:r>
          </a:p>
          <a:p>
            <a:pPr lvl="1"/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Égal 			 </a:t>
            </a:r>
            <a:r>
              <a:rPr lang="fr-CA" b="1">
                <a:solidFill>
                  <a:srgbClr val="FA4098"/>
                </a:solidFill>
              </a:rPr>
              <a:t>==</a:t>
            </a:r>
          </a:p>
          <a:p>
            <a:pPr lvl="1"/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Pas égal 			 </a:t>
            </a:r>
            <a:r>
              <a:rPr lang="fr-CA" b="1">
                <a:solidFill>
                  <a:srgbClr val="FA4098"/>
                </a:solidFill>
              </a:rPr>
              <a:t>!=</a:t>
            </a:r>
          </a:p>
          <a:p>
            <a:pPr lvl="1"/>
            <a:endParaRPr lang="fr-CA"/>
          </a:p>
          <a:p>
            <a:pPr lvl="1"/>
            <a:r>
              <a:rPr lang="fr-CA"/>
              <a:t> En ce qui concerne </a:t>
            </a:r>
            <a:r>
              <a:rPr lang="fr-CA">
                <a:solidFill>
                  <a:srgbClr val="FA4098"/>
                </a:solidFill>
              </a:rPr>
              <a:t>&lt;</a:t>
            </a:r>
            <a:r>
              <a:rPr lang="fr-CA"/>
              <a:t>, </a:t>
            </a:r>
            <a:r>
              <a:rPr lang="fr-CA">
                <a:solidFill>
                  <a:srgbClr val="FA4098"/>
                </a:solidFill>
              </a:rPr>
              <a:t>&lt;=</a:t>
            </a:r>
            <a:r>
              <a:rPr lang="fr-CA"/>
              <a:t>, </a:t>
            </a:r>
            <a:r>
              <a:rPr lang="fr-CA">
                <a:solidFill>
                  <a:srgbClr val="FA4098"/>
                </a:solidFill>
              </a:rPr>
              <a:t>&gt;</a:t>
            </a:r>
            <a:r>
              <a:rPr lang="fr-CA"/>
              <a:t> et </a:t>
            </a:r>
            <a:r>
              <a:rPr lang="fr-CA">
                <a:solidFill>
                  <a:srgbClr val="FA4098"/>
                </a:solidFill>
              </a:rPr>
              <a:t>&gt;=</a:t>
            </a:r>
            <a:r>
              <a:rPr lang="fr-CA"/>
              <a:t>, ils évaluent l’ordre alphabétique de deux chaînes de caractères, mais nous n’utiliserons pas ce genre de comparaisons.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ABECD84-926C-423B-BCB6-2AF8F229D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de comparaison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CDB2BF2-69EF-4097-B7E0-363C70E4357E}"/>
              </a:ext>
            </a:extLst>
          </p:cNvPr>
          <p:cNvSpPr txBox="1"/>
          <p:nvPr/>
        </p:nvSpPr>
        <p:spPr>
          <a:xfrm>
            <a:off x="5984748" y="2415732"/>
            <a:ext cx="610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"allo" </a:t>
            </a:r>
            <a:r>
              <a:rPr lang="fr-CA" sz="2400" b="1">
                <a:solidFill>
                  <a:srgbClr val="FA4098"/>
                </a:solidFill>
              </a:rPr>
              <a:t>==</a:t>
            </a:r>
            <a:r>
              <a:rPr lang="fr-CA" sz="2400">
                <a:solidFill>
                  <a:srgbClr val="9073D1"/>
                </a:solidFill>
              </a:rPr>
              <a:t> "allo_" (</a:t>
            </a:r>
            <a:r>
              <a:rPr lang="fr-CA" sz="2400" b="1">
                <a:solidFill>
                  <a:srgbClr val="73B3D1"/>
                </a:solidFill>
              </a:rPr>
              <a:t>false</a:t>
            </a:r>
            <a:r>
              <a:rPr lang="fr-CA" sz="2400">
                <a:solidFill>
                  <a:srgbClr val="9073D1"/>
                </a:solidFill>
              </a:rPr>
              <a:t>, différents)</a:t>
            </a:r>
            <a:endParaRPr lang="fr-CA" sz="2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7C40EA6-C34A-46B5-BCB2-D53C06E84EE0}"/>
              </a:ext>
            </a:extLst>
          </p:cNvPr>
          <p:cNvSpPr txBox="1"/>
          <p:nvPr/>
        </p:nvSpPr>
        <p:spPr>
          <a:xfrm>
            <a:off x="5984748" y="3083471"/>
            <a:ext cx="6105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"allo" </a:t>
            </a:r>
            <a:r>
              <a:rPr lang="fr-CA" sz="2400" b="1">
                <a:solidFill>
                  <a:srgbClr val="FA4098"/>
                </a:solidFill>
              </a:rPr>
              <a:t>!=</a:t>
            </a:r>
            <a:r>
              <a:rPr lang="fr-CA" sz="2400">
                <a:solidFill>
                  <a:srgbClr val="9073D1"/>
                </a:solidFill>
              </a:rPr>
              <a:t> "allo_" (</a:t>
            </a:r>
            <a:r>
              <a:rPr lang="fr-CA" sz="2400" b="1">
                <a:solidFill>
                  <a:srgbClr val="73B3D1"/>
                </a:solidFill>
              </a:rPr>
              <a:t>true</a:t>
            </a:r>
            <a:r>
              <a:rPr lang="fr-CA" sz="2400">
                <a:solidFill>
                  <a:srgbClr val="9073D1"/>
                </a:solidFill>
              </a:rPr>
              <a:t>, différents)</a:t>
            </a:r>
            <a:endParaRPr lang="fr-CA" sz="2400"/>
          </a:p>
        </p:txBody>
      </p:sp>
    </p:spTree>
    <p:extLst>
      <p:ext uri="{BB962C8B-B14F-4D97-AF65-F5344CB8AC3E}">
        <p14:creationId xmlns:p14="http://schemas.microsoft.com/office/powerpoint/2010/main" val="1980372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>
                <a:solidFill>
                  <a:srgbClr val="73B3D1"/>
                </a:solidFill>
              </a:rPr>
              <a:t>Priorité des opérateurs</a:t>
            </a:r>
          </a:p>
          <a:p>
            <a:pPr lvl="1"/>
            <a:r>
              <a:rPr lang="fr-CA"/>
              <a:t> Ordre de priorité (Du premier au dernier)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Parenthèses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*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/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%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+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-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&lt;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&lt;=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&gt;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&gt;=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==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</a:rPr>
              <a:t>!=</a:t>
            </a:r>
          </a:p>
          <a:p>
            <a:pPr lvl="2"/>
            <a:r>
              <a:rPr lang="fr-CA" b="1"/>
              <a:t> </a:t>
            </a:r>
            <a:r>
              <a:rPr lang="fr-CA" b="1">
                <a:solidFill>
                  <a:srgbClr val="FA4098"/>
                </a:solidFill>
              </a:rPr>
              <a:t>=</a:t>
            </a:r>
            <a:endParaRPr lang="fr-CA" b="1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de comparaison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DF67722-549F-4958-9A17-DA4C4E6CE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916" y="5522976"/>
            <a:ext cx="4829175" cy="51435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F97ED52-7C8A-4C46-9A1A-1AC0917AEE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9612" y="4420621"/>
            <a:ext cx="482917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79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/>
              <a:t>Booléens</a:t>
            </a:r>
          </a:p>
          <a:p>
            <a:pPr lvl="1"/>
            <a:r>
              <a:rPr lang="fr-CA"/>
              <a:t> Nous connaissons donc maintenant les « données de type </a:t>
            </a:r>
            <a:r>
              <a:rPr lang="fr-CA" b="1"/>
              <a:t>booléen</a:t>
            </a:r>
            <a:r>
              <a:rPr lang="fr-CA"/>
              <a:t> » (</a:t>
            </a:r>
            <a:r>
              <a:rPr lang="fr-CA" b="1">
                <a:solidFill>
                  <a:srgbClr val="FA4098"/>
                </a:solidFill>
              </a:rPr>
              <a:t>true</a:t>
            </a:r>
            <a:r>
              <a:rPr lang="fr-CA"/>
              <a:t> et </a:t>
            </a:r>
            <a:r>
              <a:rPr lang="fr-CA" b="1">
                <a:solidFill>
                  <a:srgbClr val="FA4098"/>
                </a:solidFill>
              </a:rPr>
              <a:t>false</a:t>
            </a:r>
            <a:r>
              <a:rPr lang="fr-CA"/>
              <a:t>) et les </a:t>
            </a:r>
            <a:r>
              <a:rPr lang="fr-CA" b="1"/>
              <a:t>opérateurs de comparaison</a:t>
            </a:r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endParaRPr lang="fr-CA" b="1">
              <a:solidFill>
                <a:srgbClr val="FA4098"/>
              </a:solidFill>
            </a:endParaRPr>
          </a:p>
          <a:p>
            <a:pPr lvl="2"/>
            <a:r>
              <a:rPr lang="fr-CA"/>
              <a:t> 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de comparaison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0D58073-5BEE-4C1F-9EBB-1265B8C23FC9}"/>
              </a:ext>
            </a:extLst>
          </p:cNvPr>
          <p:cNvSpPr txBox="1"/>
          <p:nvPr/>
        </p:nvSpPr>
        <p:spPr>
          <a:xfrm>
            <a:off x="4194066" y="2972318"/>
            <a:ext cx="273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2800">
                <a:solidFill>
                  <a:srgbClr val="9073D1"/>
                </a:solidFill>
              </a:rPr>
              <a:t>5 </a:t>
            </a:r>
            <a:r>
              <a:rPr lang="fr-CA" sz="2800" b="1">
                <a:solidFill>
                  <a:srgbClr val="FA4098"/>
                </a:solidFill>
              </a:rPr>
              <a:t>&gt;=</a:t>
            </a:r>
            <a:r>
              <a:rPr lang="fr-CA" sz="2800">
                <a:solidFill>
                  <a:srgbClr val="9073D1"/>
                </a:solidFill>
              </a:rPr>
              <a:t> 5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66721E-A7ED-4581-8516-C125C07D697D}"/>
              </a:ext>
            </a:extLst>
          </p:cNvPr>
          <p:cNvSpPr txBox="1"/>
          <p:nvPr/>
        </p:nvSpPr>
        <p:spPr>
          <a:xfrm>
            <a:off x="2507968" y="3603998"/>
            <a:ext cx="61051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2800">
                <a:solidFill>
                  <a:srgbClr val="9073D1"/>
                </a:solidFill>
              </a:rPr>
              <a:t>5 </a:t>
            </a:r>
            <a:r>
              <a:rPr lang="fr-CA" sz="2800" b="1">
                <a:solidFill>
                  <a:srgbClr val="FA4098"/>
                </a:solidFill>
              </a:rPr>
              <a:t>&lt;</a:t>
            </a:r>
            <a:r>
              <a:rPr lang="fr-CA" sz="2800">
                <a:solidFill>
                  <a:srgbClr val="9073D1"/>
                </a:solidFill>
              </a:rPr>
              <a:t> 5 </a:t>
            </a:r>
            <a:endParaRPr lang="fr-CA" sz="280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223BD81-9746-4663-9263-A493BBA986E7}"/>
              </a:ext>
            </a:extLst>
          </p:cNvPr>
          <p:cNvSpPr txBox="1"/>
          <p:nvPr/>
        </p:nvSpPr>
        <p:spPr>
          <a:xfrm>
            <a:off x="2507968" y="4235678"/>
            <a:ext cx="61051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2800">
                <a:solidFill>
                  <a:srgbClr val="9073D1"/>
                </a:solidFill>
              </a:rPr>
              <a:t>"allo" </a:t>
            </a:r>
            <a:r>
              <a:rPr lang="fr-CA" sz="2800" b="1">
                <a:solidFill>
                  <a:srgbClr val="FA4098"/>
                </a:solidFill>
              </a:rPr>
              <a:t>!=</a:t>
            </a:r>
            <a:r>
              <a:rPr lang="fr-CA" sz="2800">
                <a:solidFill>
                  <a:srgbClr val="9073D1"/>
                </a:solidFill>
              </a:rPr>
              <a:t> "allo  " </a:t>
            </a:r>
            <a:endParaRPr lang="fr-CA" sz="280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9331DE-82BB-487F-B5E7-D584DAE27485}"/>
              </a:ext>
            </a:extLst>
          </p:cNvPr>
          <p:cNvSpPr txBox="1"/>
          <p:nvPr/>
        </p:nvSpPr>
        <p:spPr>
          <a:xfrm>
            <a:off x="7333488" y="300309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>
                <a:solidFill>
                  <a:srgbClr val="73B3D1"/>
                </a:solidFill>
              </a:rPr>
              <a:t>true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DA4D0E-FEDD-44C6-869D-9A732B0056D8}"/>
              </a:ext>
            </a:extLst>
          </p:cNvPr>
          <p:cNvSpPr txBox="1"/>
          <p:nvPr/>
        </p:nvSpPr>
        <p:spPr>
          <a:xfrm>
            <a:off x="7333488" y="363477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>
                <a:solidFill>
                  <a:srgbClr val="73B3D1"/>
                </a:solidFill>
              </a:rPr>
              <a:t>false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77FA897-32D9-426A-9709-89AC214F5F60}"/>
              </a:ext>
            </a:extLst>
          </p:cNvPr>
          <p:cNvSpPr txBox="1"/>
          <p:nvPr/>
        </p:nvSpPr>
        <p:spPr>
          <a:xfrm>
            <a:off x="7333488" y="4266455"/>
            <a:ext cx="8290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 b="1">
                <a:solidFill>
                  <a:srgbClr val="73B3D1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5081092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CA"/>
              <a:t> </a:t>
            </a:r>
            <a:r>
              <a:rPr lang="fr-CA" b="1"/>
              <a:t>Opérateurs logiques</a:t>
            </a:r>
          </a:p>
          <a:p>
            <a:pPr lvl="1"/>
            <a:r>
              <a:rPr lang="fr-CA"/>
              <a:t> Permettent de combiner plusieurs expressions de comparaison !</a:t>
            </a:r>
          </a:p>
          <a:p>
            <a:pPr lvl="1"/>
            <a:endParaRPr lang="fr-CA"/>
          </a:p>
          <a:p>
            <a:pPr lvl="1"/>
            <a:r>
              <a:rPr lang="fr-CA"/>
              <a:t> ET 	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/>
          </a:p>
          <a:p>
            <a:pPr lvl="2"/>
            <a:r>
              <a:rPr lang="fr-CA"/>
              <a:t> Les 2 conditions </a:t>
            </a:r>
            <a:r>
              <a:rPr lang="fr-CA" b="1" u="sng"/>
              <a:t>doivent</a:t>
            </a:r>
            <a:r>
              <a:rPr lang="fr-CA"/>
              <a:t> être </a:t>
            </a:r>
            <a:r>
              <a:rPr lang="fr-CA">
                <a:solidFill>
                  <a:srgbClr val="FA4098"/>
                </a:solidFill>
              </a:rPr>
              <a:t>true</a:t>
            </a:r>
          </a:p>
          <a:p>
            <a:pPr marL="914400" lvl="2" indent="0" algn="ctr">
              <a:buNone/>
            </a:pP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2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&gt; 3</a:t>
            </a:r>
            <a:r>
              <a:rPr lang="fr-CA" b="1">
                <a:solidFill>
                  <a:schemeClr val="tx1"/>
                </a:solidFill>
              </a:rPr>
              <a:t>	</a:t>
            </a:r>
            <a:r>
              <a:rPr lang="fr-CA"/>
              <a:t>(</a:t>
            </a:r>
            <a:r>
              <a:rPr lang="fr-CA" b="1">
                <a:solidFill>
                  <a:srgbClr val="FA4098"/>
                </a:solidFill>
              </a:rPr>
              <a:t>false</a:t>
            </a:r>
            <a:r>
              <a:rPr lang="fr-CA"/>
              <a:t>, car </a:t>
            </a:r>
            <a:r>
              <a:rPr lang="fr-CA" b="1"/>
              <a:t>2 &gt; 3 </a:t>
            </a:r>
            <a:r>
              <a:rPr lang="fr-CA"/>
              <a:t>n’est pas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/>
              <a:t>)</a:t>
            </a:r>
            <a:endParaRPr lang="fr-CA">
              <a:solidFill>
                <a:srgbClr val="FA4098"/>
              </a:solidFill>
            </a:endParaRPr>
          </a:p>
          <a:p>
            <a:pPr lvl="1"/>
            <a:endParaRPr lang="fr-CA"/>
          </a:p>
          <a:p>
            <a:pPr lvl="1"/>
            <a:r>
              <a:rPr lang="fr-CA"/>
              <a:t> OU	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/>
          </a:p>
          <a:p>
            <a:pPr lvl="2"/>
            <a:r>
              <a:rPr lang="fr-CA"/>
              <a:t> </a:t>
            </a:r>
            <a:r>
              <a:rPr lang="fr-CA" b="1" u="sng"/>
              <a:t>Au moins une</a:t>
            </a:r>
            <a:r>
              <a:rPr lang="fr-CA"/>
              <a:t> condition doit être </a:t>
            </a:r>
            <a:r>
              <a:rPr lang="fr-CA">
                <a:solidFill>
                  <a:srgbClr val="FA4098"/>
                </a:solidFill>
              </a:rPr>
              <a:t>true</a:t>
            </a:r>
          </a:p>
          <a:p>
            <a:pPr marL="914400" lvl="2" indent="0" algn="ctr">
              <a:buNone/>
            </a:pP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&lt; 2</a:t>
            </a:r>
            <a:r>
              <a:rPr lang="fr-CA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&gt; 3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CA">
                <a:cs typeface="Courier New" panose="02070309020205020404" pitchFamily="49" charset="0"/>
              </a:rPr>
              <a:t>(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true</a:t>
            </a:r>
            <a:r>
              <a:rPr lang="fr-CA">
                <a:cs typeface="Courier New" panose="02070309020205020404" pitchFamily="49" charset="0"/>
              </a:rPr>
              <a:t>, car </a:t>
            </a:r>
            <a:r>
              <a:rPr lang="fr-CA" b="1">
                <a:cs typeface="Courier New" panose="02070309020205020404" pitchFamily="49" charset="0"/>
              </a:rPr>
              <a:t>1 &lt; 2</a:t>
            </a:r>
            <a:r>
              <a:rPr lang="fr-CA">
                <a:cs typeface="Courier New" panose="02070309020205020404" pitchFamily="49" charset="0"/>
              </a:rPr>
              <a:t> est </a:t>
            </a:r>
            <a:r>
              <a:rPr lang="fr-CA">
                <a:solidFill>
                  <a:srgbClr val="FA4098"/>
                </a:solidFill>
                <a:cs typeface="Courier New" panose="02070309020205020404" pitchFamily="49" charset="0"/>
              </a:rPr>
              <a:t>true</a:t>
            </a:r>
            <a:r>
              <a:rPr lang="fr-CA">
                <a:cs typeface="Courier New" panose="02070309020205020404" pitchFamily="49" charset="0"/>
              </a:rPr>
              <a:t>)</a:t>
            </a:r>
          </a:p>
          <a:p>
            <a:pPr marL="914400" lvl="2" indent="0" algn="ctr">
              <a:buNone/>
            </a:pPr>
            <a:endParaRPr lang="fr-CA"/>
          </a:p>
          <a:p>
            <a:pPr lvl="1"/>
            <a:r>
              <a:rPr lang="fr-CA"/>
              <a:t> INVERSE 	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endParaRPr lang="fr-CA"/>
          </a:p>
          <a:p>
            <a:pPr lvl="2"/>
            <a:r>
              <a:rPr lang="fr-CA"/>
              <a:t> Le booléen est </a:t>
            </a:r>
            <a:r>
              <a:rPr lang="fr-CA">
                <a:solidFill>
                  <a:srgbClr val="FA4098"/>
                </a:solidFill>
              </a:rPr>
              <a:t>inversé</a:t>
            </a:r>
            <a:r>
              <a:rPr lang="fr-CA"/>
              <a:t> (true devient false, false devient true)</a:t>
            </a:r>
          </a:p>
          <a:p>
            <a:pPr marL="914400" lvl="2" indent="0" algn="ctr">
              <a:buNone/>
            </a:pP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 &lt; 2)</a:t>
            </a:r>
            <a:r>
              <a:rPr lang="fr-CA"/>
              <a:t>	(</a:t>
            </a:r>
            <a:r>
              <a:rPr lang="fr-CA" b="1">
                <a:solidFill>
                  <a:srgbClr val="FA4098"/>
                </a:solidFill>
              </a:rPr>
              <a:t>false</a:t>
            </a:r>
            <a:r>
              <a:rPr lang="fr-CA"/>
              <a:t>, car </a:t>
            </a:r>
            <a:r>
              <a:rPr lang="fr-CA" b="1"/>
              <a:t>1 &lt; 2</a:t>
            </a:r>
            <a:r>
              <a:rPr lang="fr-CA"/>
              <a:t> était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/>
              <a:t>, mais on inverse)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logiques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67DE7D-18AC-4C4F-B5EE-2E026C837CA4}"/>
              </a:ext>
            </a:extLst>
          </p:cNvPr>
          <p:cNvSpPr txBox="1"/>
          <p:nvPr/>
        </p:nvSpPr>
        <p:spPr>
          <a:xfrm>
            <a:off x="0" y="6488668"/>
            <a:ext cx="7193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FA4098"/>
                </a:solidFill>
              </a:rPr>
              <a:t>||</a:t>
            </a:r>
            <a:r>
              <a:rPr lang="fr-CA">
                <a:solidFill>
                  <a:srgbClr val="739CD1"/>
                </a:solidFill>
              </a:rPr>
              <a:t> </a:t>
            </a:r>
            <a:r>
              <a:rPr lang="fr-CA">
                <a:solidFill>
                  <a:srgbClr val="7385D1"/>
                </a:solidFill>
              </a:rPr>
              <a:t>représente deux barres verticales, et non deux L minuscules.</a:t>
            </a:r>
          </a:p>
        </p:txBody>
      </p:sp>
    </p:spTree>
    <p:extLst>
      <p:ext uri="{BB962C8B-B14F-4D97-AF65-F5344CB8AC3E}">
        <p14:creationId xmlns:p14="http://schemas.microsoft.com/office/powerpoint/2010/main" val="3564014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 b="1"/>
              <a:t>Opérateurs logiques</a:t>
            </a:r>
          </a:p>
          <a:p>
            <a:pPr lvl="1"/>
            <a:r>
              <a:rPr lang="fr-CA"/>
              <a:t> Exemples concrets</a:t>
            </a:r>
          </a:p>
          <a:p>
            <a:pPr marL="914400" lvl="2" indent="0">
              <a:buNone/>
            </a:pPr>
            <a:r>
              <a:rPr lang="fr-CA"/>
              <a:t>🐦 	</a:t>
            </a:r>
          </a:p>
          <a:p>
            <a:pPr marL="914400" lvl="2" indent="0">
              <a:buNone/>
            </a:pPr>
            <a:r>
              <a:rPr lang="fr-CA"/>
              <a:t>🎈 	</a:t>
            </a:r>
          </a:p>
          <a:p>
            <a:pPr marL="914400" lvl="2" indent="0">
              <a:buNone/>
            </a:pPr>
            <a:r>
              <a:rPr lang="fr-CA"/>
              <a:t>🐝 	</a:t>
            </a:r>
            <a:endParaRPr lang="fr-CA">
              <a:solidFill>
                <a:srgbClr val="73B3D1"/>
              </a:solidFill>
            </a:endParaRPr>
          </a:p>
          <a:p>
            <a:pPr marL="914400" lvl="2" indent="0">
              <a:buNone/>
            </a:pPr>
            <a:endParaRPr lang="fr-CA"/>
          </a:p>
          <a:p>
            <a:pPr lvl="2"/>
            <a:r>
              <a:rPr lang="fr-CA"/>
              <a:t> Le prix d’une </a:t>
            </a:r>
            <a:r>
              <a:rPr lang="fr-CA" b="1"/>
              <a:t>ruche</a:t>
            </a:r>
            <a:r>
              <a:rPr lang="fr-CA"/>
              <a:t> 🐝 est à la fois plus élevé que le prix d’une </a:t>
            </a:r>
            <a:r>
              <a:rPr lang="fr-CA" b="1"/>
              <a:t>perruche</a:t>
            </a:r>
            <a:r>
              <a:rPr lang="fr-CA"/>
              <a:t> 🐦 </a:t>
            </a:r>
            <a:r>
              <a:rPr lang="fr-CA" b="1" u="sng"/>
              <a:t>ET</a:t>
            </a:r>
            <a:r>
              <a:rPr lang="fr-CA"/>
              <a:t> que le prix d’une </a:t>
            </a:r>
            <a:r>
              <a:rPr lang="fr-CA" b="1"/>
              <a:t>baudruche</a:t>
            </a:r>
            <a:r>
              <a:rPr lang="fr-CA"/>
              <a:t> 🎈</a:t>
            </a:r>
            <a:endParaRPr lang="fr-CA" b="1"/>
          </a:p>
          <a:p>
            <a:pPr marL="914400" lvl="2" indent="0" algn="ctr">
              <a:buNone/>
            </a:pPr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>
              <a:cs typeface="Courier New" panose="02070309020205020404" pitchFamily="49" charset="0"/>
            </a:endParaRPr>
          </a:p>
          <a:p>
            <a:pPr lvl="2"/>
            <a:endParaRPr lang="fr-CA"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/>
          </a:p>
          <a:p>
            <a:pPr marL="914400" lvl="2" indent="0" algn="ctr">
              <a:buNone/>
            </a:pPr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logiques</a:t>
            </a:r>
          </a:p>
        </p:txBody>
      </p:sp>
      <p:sp>
        <p:nvSpPr>
          <p:cNvPr id="12" name="Interdiction 11">
            <a:extLst>
              <a:ext uri="{FF2B5EF4-FFF2-40B4-BE49-F238E27FC236}">
                <a16:creationId xmlns:a16="http://schemas.microsoft.com/office/drawing/2014/main" id="{558A62F8-A280-4185-AED0-BB32E7FBC01A}"/>
              </a:ext>
            </a:extLst>
          </p:cNvPr>
          <p:cNvSpPr/>
          <p:nvPr/>
        </p:nvSpPr>
        <p:spPr>
          <a:xfrm>
            <a:off x="838200" y="6061259"/>
            <a:ext cx="438912" cy="438912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D29B49-2D0B-40EE-A293-57C9C8CB2CB0}"/>
              </a:ext>
            </a:extLst>
          </p:cNvPr>
          <p:cNvSpPr txBox="1"/>
          <p:nvPr/>
        </p:nvSpPr>
        <p:spPr>
          <a:xfrm>
            <a:off x="314679" y="5440492"/>
            <a:ext cx="6407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 </a:t>
            </a:r>
            <a:r>
              <a:rPr lang="fr-CA">
                <a:solidFill>
                  <a:srgbClr val="7385D1"/>
                </a:solidFill>
                <a:cs typeface="Courier New" panose="02070309020205020404" pitchFamily="49" charset="0"/>
              </a:rPr>
              <a:t>Attention ! On </a:t>
            </a:r>
            <a:r>
              <a:rPr lang="fr-CA" b="1" u="sng">
                <a:solidFill>
                  <a:srgbClr val="7385D1"/>
                </a:solidFill>
                <a:cs typeface="Courier New" panose="02070309020205020404" pitchFamily="49" charset="0"/>
              </a:rPr>
              <a:t>ne doit pas</a:t>
            </a:r>
            <a:r>
              <a:rPr lang="fr-CA">
                <a:solidFill>
                  <a:srgbClr val="7385D1"/>
                </a:solidFill>
                <a:cs typeface="Courier New" panose="02070309020205020404" pitchFamily="49" charset="0"/>
              </a:rPr>
              <a:t> écrire l’expression comme ceci :</a:t>
            </a:r>
          </a:p>
          <a:p>
            <a:endParaRPr lang="fr-CA">
              <a:solidFill>
                <a:srgbClr val="73B3D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3D7D7F39-4EE6-4645-B33C-6C72522F2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639" y="1956040"/>
            <a:ext cx="3435016" cy="105352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772B7191-DF05-4AFD-B0C1-2E8802DC9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719" y="4702787"/>
            <a:ext cx="8782050" cy="49530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E8D105BA-5CDE-4D23-8EE6-F9683A472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316" y="5817247"/>
            <a:ext cx="6962775" cy="9525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488D6A7-E0D7-4356-83A8-BDEFCEA36AC5}"/>
              </a:ext>
            </a:extLst>
          </p:cNvPr>
          <p:cNvSpPr txBox="1"/>
          <p:nvPr/>
        </p:nvSpPr>
        <p:spPr>
          <a:xfrm>
            <a:off x="1667275" y="4091051"/>
            <a:ext cx="9682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prixRuche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prixPerruche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prixBaudruche</a:t>
            </a: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526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/>
              <a:t>Opérateurs logiques</a:t>
            </a:r>
          </a:p>
          <a:p>
            <a:pPr lvl="1"/>
            <a:r>
              <a:rPr lang="fr-CA"/>
              <a:t> Exemples concrets</a:t>
            </a:r>
          </a:p>
          <a:p>
            <a:pPr marL="914400" lvl="2" indent="0">
              <a:buNone/>
            </a:pPr>
            <a:r>
              <a:rPr lang="fr-CA"/>
              <a:t>🐦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prixPerruche</a:t>
            </a:r>
            <a:r>
              <a:rPr lang="fr-CA"/>
              <a:t> = 5; </a:t>
            </a:r>
          </a:p>
          <a:p>
            <a:pPr marL="914400" lvl="2" indent="0">
              <a:buNone/>
            </a:pPr>
            <a:r>
              <a:rPr lang="fr-CA"/>
              <a:t>🎈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prixBaudruche</a:t>
            </a:r>
            <a:r>
              <a:rPr lang="fr-CA"/>
              <a:t> = 10; </a:t>
            </a:r>
          </a:p>
          <a:p>
            <a:pPr marL="914400" lvl="2" indent="0">
              <a:buNone/>
            </a:pPr>
            <a:r>
              <a:rPr lang="fr-CA"/>
              <a:t>🐝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prixRuche</a:t>
            </a:r>
            <a:r>
              <a:rPr lang="fr-CA"/>
              <a:t> = 15;</a:t>
            </a:r>
          </a:p>
          <a:p>
            <a:pPr lvl="2"/>
            <a:endParaRPr lang="fr-CA"/>
          </a:p>
          <a:p>
            <a:pPr lvl="2"/>
            <a:r>
              <a:rPr lang="fr-CA"/>
              <a:t> </a:t>
            </a:r>
            <a:r>
              <a:rPr lang="fr-CA" b="1"/>
              <a:t>Au moins un </a:t>
            </a:r>
            <a:r>
              <a:rPr lang="fr-CA"/>
              <a:t>des trois prix est </a:t>
            </a:r>
            <a:r>
              <a:rPr lang="fr-CA" b="1"/>
              <a:t>plus élevé </a:t>
            </a:r>
            <a:r>
              <a:rPr lang="fr-CA"/>
              <a:t>que 13$</a:t>
            </a:r>
          </a:p>
          <a:p>
            <a:pPr marL="0" indent="0" algn="ctr">
              <a:buNone/>
            </a:pPr>
            <a:endParaRPr lang="fr-CA" sz="20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prixPerruche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prixBaudruche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  <a:p>
            <a:pPr marL="0" indent="0" algn="ctr">
              <a:buNone/>
            </a:pPr>
            <a:endParaRPr lang="fr-CA" sz="20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fr-CA" sz="20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CA" sz="1600"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fr-CA" sz="1600">
                <a:cs typeface="Courier New" panose="02070309020205020404" pitchFamily="49" charset="0"/>
              </a:rPr>
              <a:t>Attention ! On ne doit pas écrire l’expression comme ceci :</a:t>
            </a:r>
          </a:p>
          <a:p>
            <a:pPr marL="0" indent="0">
              <a:buNone/>
            </a:pPr>
            <a:endParaRPr lang="fr-CA" sz="200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logiques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23FFF2C-FF69-493D-987C-30C43303819F}"/>
              </a:ext>
            </a:extLst>
          </p:cNvPr>
          <p:cNvSpPr txBox="1"/>
          <p:nvPr/>
        </p:nvSpPr>
        <p:spPr>
          <a:xfrm>
            <a:off x="1207235" y="6125151"/>
            <a:ext cx="87066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prixPerruche 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prixBaudruche 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prixRuche 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</p:txBody>
      </p:sp>
      <p:sp>
        <p:nvSpPr>
          <p:cNvPr id="17" name="Interdiction 16">
            <a:extLst>
              <a:ext uri="{FF2B5EF4-FFF2-40B4-BE49-F238E27FC236}">
                <a16:creationId xmlns:a16="http://schemas.microsoft.com/office/drawing/2014/main" id="{144CCC7E-C655-4625-82C6-8D76B396ADAB}"/>
              </a:ext>
            </a:extLst>
          </p:cNvPr>
          <p:cNvSpPr/>
          <p:nvPr/>
        </p:nvSpPr>
        <p:spPr>
          <a:xfrm>
            <a:off x="2176654" y="6148468"/>
            <a:ext cx="338554" cy="338554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9AEB134-38FD-4B9E-8C36-7371F7449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639" y="1956040"/>
            <a:ext cx="3435016" cy="105352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D6D37CD-2EFA-4D03-9924-157B4F203F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425" y="4760785"/>
            <a:ext cx="9353550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618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/>
              <a:t>Opérateurs logiques</a:t>
            </a:r>
          </a:p>
          <a:p>
            <a:pPr lvl="1"/>
            <a:r>
              <a:rPr lang="fr-CA"/>
              <a:t> Exemples concrets</a:t>
            </a:r>
          </a:p>
          <a:p>
            <a:pPr marL="914400" lvl="2" indent="0">
              <a:buNone/>
            </a:pPr>
            <a:r>
              <a:rPr lang="fr-CA"/>
              <a:t>🐦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prixPerruche</a:t>
            </a:r>
            <a:r>
              <a:rPr lang="fr-CA"/>
              <a:t> = 5; </a:t>
            </a:r>
          </a:p>
          <a:p>
            <a:pPr marL="914400" lvl="2" indent="0">
              <a:buNone/>
            </a:pPr>
            <a:r>
              <a:rPr lang="fr-CA"/>
              <a:t>🎈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prixBaudruche</a:t>
            </a:r>
            <a:r>
              <a:rPr lang="fr-CA"/>
              <a:t> = 10; </a:t>
            </a:r>
          </a:p>
          <a:p>
            <a:pPr marL="914400" lvl="2" indent="0">
              <a:buNone/>
            </a:pPr>
            <a:r>
              <a:rPr lang="fr-CA"/>
              <a:t>🐝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prixRuche</a:t>
            </a:r>
            <a:r>
              <a:rPr lang="fr-CA"/>
              <a:t> = 15;</a:t>
            </a:r>
          </a:p>
          <a:p>
            <a:pPr lvl="2"/>
            <a:endParaRPr lang="fr-CA"/>
          </a:p>
          <a:p>
            <a:pPr lvl="2"/>
            <a:r>
              <a:rPr lang="fr-CA"/>
              <a:t> Le prix d’une </a:t>
            </a:r>
            <a:r>
              <a:rPr lang="fr-CA" b="1"/>
              <a:t>perruche</a:t>
            </a:r>
            <a:r>
              <a:rPr lang="fr-CA"/>
              <a:t> 🐦 </a:t>
            </a:r>
            <a:r>
              <a:rPr lang="fr-CA" b="1" u="sng"/>
              <a:t>N’EST PAS</a:t>
            </a:r>
            <a:r>
              <a:rPr lang="fr-CA"/>
              <a:t> égal à 5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marL="0" indent="0" algn="ctr">
              <a:buNone/>
            </a:pP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(prixPerruche </a:t>
            </a:r>
            <a:r>
              <a:rPr lang="fr-CA" sz="2000" b="1">
                <a:solidFill>
                  <a:srgbClr val="FA4098"/>
                </a:solidFill>
                <a:cs typeface="Courier New" panose="02070309020205020404" pitchFamily="49" charset="0"/>
              </a:rPr>
              <a:t>==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5) </a:t>
            </a:r>
            <a:r>
              <a:rPr lang="fr-CA" sz="2000">
                <a:cs typeface="Courier New" panose="02070309020205020404" pitchFamily="49" charset="0"/>
              </a:rPr>
              <a:t>ou encore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prixPerruche 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logiques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08F80BE-D803-430F-9D62-440635186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351" y="1962136"/>
            <a:ext cx="3435016" cy="10535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16C99473-5D2F-4FBF-B4A0-CCD402B34F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26" y="5267515"/>
            <a:ext cx="4152900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536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134D3E8-F8DC-4A05-A56D-E1FA123B5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/>
              <a:t>Opérateurs logiques</a:t>
            </a:r>
          </a:p>
          <a:p>
            <a:pPr lvl="1"/>
            <a:r>
              <a:rPr lang="fr-CA"/>
              <a:t> Exemples concrets</a:t>
            </a:r>
          </a:p>
          <a:p>
            <a:pPr marL="914400" lvl="2" indent="0">
              <a:buNone/>
            </a:pPr>
            <a:r>
              <a:rPr lang="fr-CA"/>
              <a:t>🐦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prixPerruche</a:t>
            </a:r>
            <a:r>
              <a:rPr lang="fr-CA"/>
              <a:t> = 5; </a:t>
            </a:r>
          </a:p>
          <a:p>
            <a:pPr marL="914400" lvl="2" indent="0">
              <a:buNone/>
            </a:pPr>
            <a:r>
              <a:rPr lang="fr-CA"/>
              <a:t>🎈 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prixBaudruche</a:t>
            </a:r>
            <a:r>
              <a:rPr lang="fr-CA"/>
              <a:t> = 10; </a:t>
            </a:r>
          </a:p>
          <a:p>
            <a:pPr marL="914400" lvl="2" indent="0">
              <a:buNone/>
            </a:pPr>
            <a:r>
              <a:rPr lang="fr-CA"/>
              <a:t>🐝	</a:t>
            </a:r>
            <a:r>
              <a:rPr lang="fr-CA" sz="2000">
                <a:solidFill>
                  <a:srgbClr val="73B3D1"/>
                </a:solidFill>
              </a:rPr>
              <a:t>let</a:t>
            </a:r>
            <a:r>
              <a:rPr lang="fr-CA"/>
              <a:t> </a:t>
            </a:r>
            <a:r>
              <a:rPr lang="fr-CA" b="1"/>
              <a:t>prixRuche</a:t>
            </a:r>
            <a:r>
              <a:rPr lang="fr-CA"/>
              <a:t> = 15;</a:t>
            </a:r>
          </a:p>
          <a:p>
            <a:pPr marL="914400" lvl="2" indent="0">
              <a:buNone/>
            </a:pPr>
            <a:endParaRPr lang="fr-CA"/>
          </a:p>
          <a:p>
            <a:pPr lvl="2"/>
            <a:r>
              <a:rPr lang="fr-CA"/>
              <a:t> Le prix d’une </a:t>
            </a:r>
            <a:r>
              <a:rPr lang="fr-CA" b="1"/>
              <a:t>ruche </a:t>
            </a:r>
            <a:r>
              <a:rPr lang="fr-CA"/>
              <a:t>🐝 </a:t>
            </a:r>
            <a:r>
              <a:rPr lang="fr-CA" b="1" u="sng"/>
              <a:t>N’EST PAS</a:t>
            </a:r>
            <a:r>
              <a:rPr lang="fr-CA"/>
              <a:t> plus élevé que le prix de 2 </a:t>
            </a:r>
            <a:r>
              <a:rPr lang="fr-CA" b="1"/>
              <a:t>perruches </a:t>
            </a:r>
            <a:r>
              <a:rPr lang="fr-CA"/>
              <a:t>🐦 🐦.</a:t>
            </a:r>
          </a:p>
          <a:p>
            <a:pPr marL="914400" lvl="2" indent="0">
              <a:buNone/>
            </a:pPr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 algn="ctr">
              <a:buNone/>
            </a:pP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(prixRuche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 * prixPerruche)	</a:t>
            </a:r>
            <a:endParaRPr lang="fr-CA"/>
          </a:p>
          <a:p>
            <a:pPr lvl="2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Opérateurs logiques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B6323E1-7389-4AA7-8C20-F8068901F2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293" y="5297995"/>
            <a:ext cx="5800725" cy="5048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40080EB-720C-459C-943C-64F595C77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351" y="1962136"/>
            <a:ext cx="3435016" cy="105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2925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</a:p>
          <a:p>
            <a:pPr lvl="1"/>
            <a:r>
              <a:rPr lang="fr-CA" dirty="0"/>
              <a:t> Exécute un morceau de code seulement si une </a:t>
            </a:r>
            <a:r>
              <a:rPr lang="fr-CA" dirty="0">
                <a:solidFill>
                  <a:srgbClr val="FA4098"/>
                </a:solidFill>
              </a:rPr>
              <a:t>condition</a:t>
            </a:r>
            <a:r>
              <a:rPr lang="fr-CA" dirty="0"/>
              <a:t> est respectée</a:t>
            </a:r>
          </a:p>
          <a:p>
            <a:pPr lvl="1"/>
            <a:r>
              <a:rPr lang="fr-CA" dirty="0"/>
              <a:t> Syntaxe : </a:t>
            </a:r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0CD7BC-9D97-4092-B007-09A406F330D9}"/>
              </a:ext>
            </a:extLst>
          </p:cNvPr>
          <p:cNvSpPr/>
          <p:nvPr/>
        </p:nvSpPr>
        <p:spPr>
          <a:xfrm>
            <a:off x="2104368" y="3339046"/>
            <a:ext cx="7979664" cy="1243584"/>
          </a:xfrm>
          <a:prstGeom prst="rect">
            <a:avLst/>
          </a:prstGeom>
          <a:solidFill>
            <a:schemeClr val="bg1"/>
          </a:solidFill>
          <a:ln w="38100">
            <a:solidFill>
              <a:srgbClr val="907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/*...Condition...*/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true »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B78716D-5569-495D-AD00-641A31712F03}"/>
              </a:ext>
            </a:extLst>
          </p:cNvPr>
          <p:cNvSpPr txBox="1"/>
          <p:nvPr/>
        </p:nvSpPr>
        <p:spPr>
          <a:xfrm>
            <a:off x="3814296" y="2205663"/>
            <a:ext cx="5681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9073D1"/>
                </a:solidFill>
              </a:rPr>
              <a:t>Entre les parenthèses </a:t>
            </a:r>
            <a:r>
              <a:rPr lang="fr-CA" b="1"/>
              <a:t>( )</a:t>
            </a:r>
            <a:r>
              <a:rPr lang="fr-CA">
                <a:solidFill>
                  <a:srgbClr val="9073D1"/>
                </a:solidFill>
              </a:rPr>
              <a:t>, on retrouve la condition, qui DOIT être un booléen (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>
                <a:solidFill>
                  <a:srgbClr val="9073D1"/>
                </a:solidFill>
              </a:rPr>
              <a:t> ou </a:t>
            </a:r>
            <a:r>
              <a:rPr lang="fr-CA">
                <a:solidFill>
                  <a:srgbClr val="FA4098"/>
                </a:solidFill>
              </a:rPr>
              <a:t>false</a:t>
            </a:r>
            <a:r>
              <a:rPr lang="fr-CA">
                <a:solidFill>
                  <a:srgbClr val="9073D1"/>
                </a:solidFill>
              </a:rPr>
              <a:t>)</a:t>
            </a:r>
          </a:p>
          <a:p>
            <a:endParaRPr lang="fr-CA">
              <a:solidFill>
                <a:srgbClr val="9073D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EF35559-D605-4DD6-AA8E-748901CB8900}"/>
              </a:ext>
            </a:extLst>
          </p:cNvPr>
          <p:cNvSpPr txBox="1"/>
          <p:nvPr/>
        </p:nvSpPr>
        <p:spPr>
          <a:xfrm>
            <a:off x="3438144" y="4954427"/>
            <a:ext cx="61051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solidFill>
                  <a:srgbClr val="9073D1"/>
                </a:solidFill>
              </a:rPr>
              <a:t>Entre les accolades </a:t>
            </a:r>
            <a:r>
              <a:rPr lang="fr-CA" b="1"/>
              <a:t>{ }</a:t>
            </a:r>
            <a:r>
              <a:rPr lang="fr-CA">
                <a:solidFill>
                  <a:srgbClr val="9073D1"/>
                </a:solidFill>
              </a:rPr>
              <a:t> , on retrouve du code qui s’exécutera SEULEMENT si la </a:t>
            </a:r>
            <a:r>
              <a:rPr lang="fr-CA">
                <a:solidFill>
                  <a:srgbClr val="FA4098"/>
                </a:solidFill>
              </a:rPr>
              <a:t>condition</a:t>
            </a:r>
            <a:r>
              <a:rPr lang="fr-CA">
                <a:solidFill>
                  <a:srgbClr val="9073D1"/>
                </a:solidFill>
              </a:rPr>
              <a:t> est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>
                <a:solidFill>
                  <a:srgbClr val="9073D1"/>
                </a:solidFill>
              </a:rPr>
              <a:t>.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90B2FDF5-0DBD-4748-B2D7-D73025926B8D}"/>
              </a:ext>
            </a:extLst>
          </p:cNvPr>
          <p:cNvCxnSpPr>
            <a:cxnSpLocks/>
          </p:cNvCxnSpPr>
          <p:nvPr/>
        </p:nvCxnSpPr>
        <p:spPr>
          <a:xfrm flipH="1">
            <a:off x="4322064" y="2834640"/>
            <a:ext cx="316992" cy="594360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E46E5C2D-E825-4CB8-94CF-B268106F7997}"/>
              </a:ext>
            </a:extLst>
          </p:cNvPr>
          <p:cNvCxnSpPr>
            <a:cxnSpLocks/>
          </p:cNvCxnSpPr>
          <p:nvPr/>
        </p:nvCxnSpPr>
        <p:spPr>
          <a:xfrm flipH="1" flipV="1">
            <a:off x="4639056" y="4279392"/>
            <a:ext cx="164592" cy="675035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866C2825-0A31-4D76-A454-14F606DD4F09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9073D1"/>
                </a:solidFill>
              </a:rPr>
              <a:t>Exemple dans la vie </a:t>
            </a:r>
            <a:r>
              <a:rPr lang="fr-CA">
                <a:solidFill>
                  <a:srgbClr val="9073D1"/>
                </a:solidFill>
              </a:rPr>
              <a:t>: Si tu as au moins 5$, tu peux faire un tour de montagne russe.  Bien entendu, si tu détiens moins de 5$, il n’y aura tout simplement pas de tour de montagne russe. </a:t>
            </a:r>
            <a:r>
              <a:rPr lang="en-CA">
                <a:solidFill>
                  <a:srgbClr val="9073D1"/>
                </a:solidFill>
              </a:rPr>
              <a:t>😔</a:t>
            </a:r>
            <a:endParaRPr lang="fr-CA">
              <a:solidFill>
                <a:srgbClr val="907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5209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</a:p>
          <a:p>
            <a:pPr lvl="1"/>
            <a:r>
              <a:rPr lang="fr-CA"/>
              <a:t> Exemples simplissimes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2"/>
            <a:r>
              <a:rPr lang="fr-CA"/>
              <a:t>  Bien entendu, on ne met jamais directement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/>
              <a:t> ou </a:t>
            </a:r>
            <a:r>
              <a:rPr lang="fr-CA">
                <a:solidFill>
                  <a:srgbClr val="FA4098"/>
                </a:solidFill>
              </a:rPr>
              <a:t>false</a:t>
            </a:r>
            <a:r>
              <a:rPr lang="fr-CA"/>
              <a:t> comme </a:t>
            </a:r>
            <a:r>
              <a:rPr lang="fr-CA">
                <a:solidFill>
                  <a:srgbClr val="FA4098"/>
                </a:solidFill>
              </a:rPr>
              <a:t>condition</a:t>
            </a:r>
            <a:r>
              <a:rPr lang="fr-CA"/>
              <a:t> ! Sinon utiliser un bloc </a:t>
            </a:r>
            <a:r>
              <a:rPr lang="fr-CA">
                <a:solidFill>
                  <a:srgbClr val="FA4098"/>
                </a:solidFill>
              </a:rPr>
              <a:t>if</a:t>
            </a:r>
            <a:r>
              <a:rPr lang="fr-CA"/>
              <a:t> ne sert à rien car on sait d’avance ce qui se produira.</a:t>
            </a:r>
          </a:p>
          <a:p>
            <a:pPr lvl="2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2097248-5E7A-4E78-B3DE-7ED4F483D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272" y="2667494"/>
            <a:ext cx="3038899" cy="962159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BCA7BAF-3391-49CC-91FC-883CD945A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942" y="2667494"/>
            <a:ext cx="3269002" cy="963280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AD57F8B7-8BDA-44AF-B87F-04CC9683B0FC}"/>
              </a:ext>
            </a:extLst>
          </p:cNvPr>
          <p:cNvSpPr txBox="1"/>
          <p:nvPr/>
        </p:nvSpPr>
        <p:spPr>
          <a:xfrm>
            <a:off x="1373102" y="3842053"/>
            <a:ext cx="40523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solidFill>
                  <a:srgbClr val="9073D1"/>
                </a:solidFill>
              </a:rPr>
              <a:t>Ici, la condition est </a:t>
            </a:r>
            <a:r>
              <a:rPr lang="fr-CA">
                <a:solidFill>
                  <a:srgbClr val="FA4098"/>
                </a:solidFill>
              </a:rPr>
              <a:t>true</a:t>
            </a:r>
            <a:r>
              <a:rPr lang="fr-CA">
                <a:solidFill>
                  <a:srgbClr val="9073D1"/>
                </a:solidFill>
              </a:rPr>
              <a:t>, alors nous allons </a:t>
            </a:r>
            <a:r>
              <a:rPr lang="fr-CA" u="sng">
                <a:solidFill>
                  <a:srgbClr val="9073D1"/>
                </a:solidFill>
              </a:rPr>
              <a:t>exécuter le code</a:t>
            </a:r>
            <a:r>
              <a:rPr lang="fr-CA">
                <a:solidFill>
                  <a:srgbClr val="9073D1"/>
                </a:solidFill>
              </a:rPr>
              <a:t> dans le bloc.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8B6BD6F-8985-4E67-9C91-AAAD52D186C0}"/>
              </a:ext>
            </a:extLst>
          </p:cNvPr>
          <p:cNvSpPr txBox="1"/>
          <p:nvPr/>
        </p:nvSpPr>
        <p:spPr>
          <a:xfrm>
            <a:off x="7093171" y="3774332"/>
            <a:ext cx="40523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solidFill>
                  <a:srgbClr val="9073D1"/>
                </a:solidFill>
              </a:rPr>
              <a:t>Ici, la condition est </a:t>
            </a:r>
            <a:r>
              <a:rPr lang="fr-CA">
                <a:solidFill>
                  <a:srgbClr val="FA4098"/>
                </a:solidFill>
              </a:rPr>
              <a:t>false</a:t>
            </a:r>
            <a:r>
              <a:rPr lang="fr-CA">
                <a:solidFill>
                  <a:srgbClr val="9073D1"/>
                </a:solidFill>
              </a:rPr>
              <a:t>, alors nous allons simplement </a:t>
            </a:r>
            <a:r>
              <a:rPr lang="fr-CA" u="sng">
                <a:solidFill>
                  <a:srgbClr val="9073D1"/>
                </a:solidFill>
              </a:rPr>
              <a:t>sauter (skip) le bloc</a:t>
            </a:r>
            <a:r>
              <a:rPr lang="fr-CA">
                <a:solidFill>
                  <a:srgbClr val="9073D1"/>
                </a:solidFill>
              </a:rPr>
              <a:t> et passer à la suite sans exécuter son code.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7B3C16C-C777-4887-9820-E01A288D1AAA}"/>
              </a:ext>
            </a:extLst>
          </p:cNvPr>
          <p:cNvCxnSpPr/>
          <p:nvPr/>
        </p:nvCxnSpPr>
        <p:spPr>
          <a:xfrm>
            <a:off x="6156960" y="2289742"/>
            <a:ext cx="0" cy="2407920"/>
          </a:xfrm>
          <a:prstGeom prst="line">
            <a:avLst/>
          </a:prstGeom>
          <a:ln w="19050">
            <a:solidFill>
              <a:srgbClr val="907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FAFBEAE7-E351-4EFB-A5C1-42827CC2DFC3}"/>
              </a:ext>
            </a:extLst>
          </p:cNvPr>
          <p:cNvSpPr txBox="1"/>
          <p:nvPr/>
        </p:nvSpPr>
        <p:spPr>
          <a:xfrm>
            <a:off x="4834171" y="2911748"/>
            <a:ext cx="88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✅</a:t>
            </a:r>
            <a:endParaRPr lang="fr-CA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CF44E09-DBC0-4D99-9F52-7D2A174E6C3F}"/>
              </a:ext>
            </a:extLst>
          </p:cNvPr>
          <p:cNvSpPr txBox="1"/>
          <p:nvPr/>
        </p:nvSpPr>
        <p:spPr>
          <a:xfrm>
            <a:off x="10620954" y="2963907"/>
            <a:ext cx="88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🚫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714907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/>
              <a:t>Bloc </a:t>
            </a:r>
            <a:r>
              <a:rPr lang="fr-CA" b="1">
                <a:solidFill>
                  <a:srgbClr val="FA4098"/>
                </a:solidFill>
              </a:rPr>
              <a:t>if</a:t>
            </a:r>
            <a:endParaRPr lang="fr-CA"/>
          </a:p>
          <a:p>
            <a:pPr lvl="1"/>
            <a:r>
              <a:rPr lang="fr-CA" b="1">
                <a:solidFill>
                  <a:srgbClr val="9073D1"/>
                </a:solidFill>
              </a:rPr>
              <a:t> </a:t>
            </a:r>
            <a:r>
              <a:rPr lang="fr-CA">
                <a:solidFill>
                  <a:srgbClr val="9073D1"/>
                </a:solidFill>
              </a:rPr>
              <a:t>Exemple plus pertinent</a:t>
            </a:r>
          </a:p>
          <a:p>
            <a:pPr marL="1200150" lvl="2" indent="-285750"/>
            <a:r>
              <a:rPr lang="fr-CA">
                <a:solidFill>
                  <a:srgbClr val="9073D1"/>
                </a:solidFill>
              </a:rPr>
              <a:t> Ici, on écrit </a:t>
            </a:r>
            <a:r>
              <a:rPr lang="fr-CA">
                <a:solidFill>
                  <a:schemeClr val="tx1"/>
                </a:solidFill>
              </a:rPr>
              <a:t>"majeur"</a:t>
            </a:r>
            <a:r>
              <a:rPr lang="fr-CA">
                <a:solidFill>
                  <a:srgbClr val="9073D1"/>
                </a:solidFill>
              </a:rPr>
              <a:t> dans l’élément avec l’id </a:t>
            </a:r>
            <a:r>
              <a:rPr lang="fr-CA">
                <a:solidFill>
                  <a:srgbClr val="FA4098"/>
                </a:solidFill>
              </a:rPr>
              <a:t>#personne</a:t>
            </a:r>
            <a:r>
              <a:rPr lang="fr-CA">
                <a:solidFill>
                  <a:srgbClr val="9073D1"/>
                </a:solidFill>
              </a:rPr>
              <a:t> </a:t>
            </a:r>
            <a:r>
              <a:rPr lang="fr-CA" u="sng">
                <a:solidFill>
                  <a:srgbClr val="9073D1"/>
                </a:solidFill>
              </a:rPr>
              <a:t>seulement si</a:t>
            </a:r>
            <a:r>
              <a:rPr lang="fr-CA">
                <a:solidFill>
                  <a:srgbClr val="9073D1"/>
                </a:solidFill>
              </a:rPr>
              <a:t> la variable </a:t>
            </a:r>
            <a:r>
              <a:rPr lang="fr-CA">
                <a:solidFill>
                  <a:srgbClr val="FA4098"/>
                </a:solidFill>
              </a:rPr>
              <a:t>age</a:t>
            </a:r>
            <a:r>
              <a:rPr lang="fr-CA">
                <a:solidFill>
                  <a:srgbClr val="9073D1"/>
                </a:solidFill>
              </a:rPr>
              <a:t> est supérieure ou égale à </a:t>
            </a:r>
            <a:r>
              <a:rPr lang="fr-CA">
                <a:solidFill>
                  <a:srgbClr val="FA4098"/>
                </a:solidFill>
              </a:rPr>
              <a:t>18</a:t>
            </a:r>
            <a:r>
              <a:rPr lang="fr-CA">
                <a:solidFill>
                  <a:srgbClr val="9073D1"/>
                </a:solidFill>
              </a:rPr>
              <a:t>.</a:t>
            </a:r>
          </a:p>
          <a:p>
            <a:pPr marL="1200150" lvl="2" indent="-285750"/>
            <a:r>
              <a:rPr lang="fr-CA">
                <a:solidFill>
                  <a:srgbClr val="9073D1"/>
                </a:solidFill>
              </a:rPr>
              <a:t> Sinon, on saute le bloc de code du </a:t>
            </a:r>
            <a:r>
              <a:rPr lang="fr-CA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9073D1"/>
                </a:solidFill>
              </a:rPr>
              <a:t>.</a:t>
            </a:r>
          </a:p>
          <a:p>
            <a:pPr lvl="2"/>
            <a:endParaRPr lang="fr-CA"/>
          </a:p>
          <a:p>
            <a:pPr lvl="2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7953273-8B65-4336-BD3B-3A2A3EFFA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45" y="3105912"/>
            <a:ext cx="8547110" cy="1515902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03E372B-2947-4B23-8518-02BEE9754C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721" y="4872824"/>
            <a:ext cx="8800958" cy="1627347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</p:spTree>
    <p:extLst>
      <p:ext uri="{BB962C8B-B14F-4D97-AF65-F5344CB8AC3E}">
        <p14:creationId xmlns:p14="http://schemas.microsoft.com/office/powerpoint/2010/main" val="16489476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48442D6-7003-4C4A-962C-E4A57528C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Conditions incohérentes</a:t>
            </a:r>
          </a:p>
          <a:p>
            <a:pPr lvl="1"/>
            <a:r>
              <a:rPr lang="fr-CA"/>
              <a:t> </a:t>
            </a:r>
            <a:r>
              <a:rPr lang="en-CA"/>
              <a:t>😬 </a:t>
            </a:r>
            <a:r>
              <a:rPr lang="fr-CA">
                <a:solidFill>
                  <a:srgbClr val="FA4098"/>
                </a:solidFill>
              </a:rPr>
              <a:t>ATTENTION !</a:t>
            </a:r>
            <a:r>
              <a:rPr lang="fr-CA"/>
              <a:t> Ne jamais confondre les opérateurs </a:t>
            </a:r>
            <a:r>
              <a:rPr lang="fr-CA">
                <a:solidFill>
                  <a:srgbClr val="FA4098"/>
                </a:solidFill>
              </a:rPr>
              <a:t>==</a:t>
            </a:r>
            <a:r>
              <a:rPr lang="fr-CA"/>
              <a:t> et </a:t>
            </a:r>
            <a:r>
              <a:rPr lang="fr-CA">
                <a:solidFill>
                  <a:srgbClr val="FA4098"/>
                </a:solidFill>
              </a:rPr>
              <a:t>=</a:t>
            </a:r>
            <a:r>
              <a:rPr lang="fr-CA"/>
              <a:t> !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39AB311-492B-4390-B3C9-E97F6ECF5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FB118DF-0225-4335-B687-42093B329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04" y="2527285"/>
            <a:ext cx="3515216" cy="1000265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E6BB755C-BE48-4C17-B5AE-079EDF8C414A}"/>
              </a:ext>
            </a:extLst>
          </p:cNvPr>
          <p:cNvCxnSpPr>
            <a:cxnSpLocks/>
          </p:cNvCxnSpPr>
          <p:nvPr/>
        </p:nvCxnSpPr>
        <p:spPr>
          <a:xfrm>
            <a:off x="6128976" y="2348677"/>
            <a:ext cx="0" cy="4302059"/>
          </a:xfrm>
          <a:prstGeom prst="line">
            <a:avLst/>
          </a:prstGeom>
          <a:ln w="28575">
            <a:solidFill>
              <a:srgbClr val="907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E2081B4E-27E3-419E-9CAB-8B1A74405C98}"/>
              </a:ext>
            </a:extLst>
          </p:cNvPr>
          <p:cNvSpPr txBox="1"/>
          <p:nvPr/>
        </p:nvSpPr>
        <p:spPr>
          <a:xfrm>
            <a:off x="1154916" y="3785688"/>
            <a:ext cx="4657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Ici, pas de problème ! On vérifie si </a:t>
            </a:r>
            <a:r>
              <a:rPr lang="fr-CA" sz="2400">
                <a:solidFill>
                  <a:srgbClr val="FA4098"/>
                </a:solidFill>
              </a:rPr>
              <a:t>x</a:t>
            </a:r>
            <a:r>
              <a:rPr lang="fr-CA" sz="2400">
                <a:solidFill>
                  <a:srgbClr val="9073D1"/>
                </a:solidFill>
              </a:rPr>
              <a:t> vaut </a:t>
            </a:r>
            <a:r>
              <a:rPr lang="fr-CA" sz="2400">
                <a:solidFill>
                  <a:srgbClr val="FA4098"/>
                </a:solidFill>
              </a:rPr>
              <a:t>5</a:t>
            </a:r>
            <a:r>
              <a:rPr lang="fr-CA" sz="2400">
                <a:solidFill>
                  <a:srgbClr val="9073D1"/>
                </a:solidFill>
              </a:rPr>
              <a:t>. La condition est cohérente.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669E96D-70EB-45A7-8CEC-98C42553B01A}"/>
              </a:ext>
            </a:extLst>
          </p:cNvPr>
          <p:cNvSpPr txBox="1"/>
          <p:nvPr/>
        </p:nvSpPr>
        <p:spPr>
          <a:xfrm>
            <a:off x="6544315" y="3785687"/>
            <a:ext cx="49466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2400">
                <a:solidFill>
                  <a:srgbClr val="9073D1"/>
                </a:solidFill>
              </a:rPr>
              <a:t>Problème : au lieu de poser une condition, on a mis « Je veux affecter </a:t>
            </a:r>
            <a:r>
              <a:rPr lang="fr-CA" sz="2400">
                <a:solidFill>
                  <a:srgbClr val="FA4098"/>
                </a:solidFill>
              </a:rPr>
              <a:t>5</a:t>
            </a:r>
            <a:r>
              <a:rPr lang="fr-CA" sz="2400">
                <a:solidFill>
                  <a:srgbClr val="9073D1"/>
                </a:solidFill>
              </a:rPr>
              <a:t> à la variable </a:t>
            </a:r>
            <a:r>
              <a:rPr lang="fr-CA" sz="2400">
                <a:solidFill>
                  <a:srgbClr val="FA4098"/>
                </a:solidFill>
              </a:rPr>
              <a:t>x</a:t>
            </a:r>
            <a:r>
              <a:rPr lang="fr-CA" sz="2400">
                <a:solidFill>
                  <a:srgbClr val="9073D1"/>
                </a:solidFill>
              </a:rPr>
              <a:t> ». Résultat ? C’est toujours considéré comme </a:t>
            </a:r>
            <a:r>
              <a:rPr lang="fr-CA" sz="2400">
                <a:solidFill>
                  <a:srgbClr val="FA4098"/>
                </a:solidFill>
              </a:rPr>
              <a:t>true</a:t>
            </a:r>
            <a:r>
              <a:rPr lang="fr-CA" sz="2400">
                <a:solidFill>
                  <a:srgbClr val="9073D1"/>
                </a:solidFill>
              </a:rPr>
              <a:t>.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5CDCB4-07D5-452B-8412-0A5C8714B884}"/>
              </a:ext>
            </a:extLst>
          </p:cNvPr>
          <p:cNvSpPr txBox="1"/>
          <p:nvPr/>
        </p:nvSpPr>
        <p:spPr>
          <a:xfrm>
            <a:off x="5042096" y="2199722"/>
            <a:ext cx="11033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/>
              <a:t>😏</a:t>
            </a:r>
            <a:endParaRPr lang="fr-CA" sz="440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9648BEE-B421-4DED-9EFD-7C9974CC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70" y="2565391"/>
            <a:ext cx="3677163" cy="962159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16" name="Interdiction 15">
            <a:extLst>
              <a:ext uri="{FF2B5EF4-FFF2-40B4-BE49-F238E27FC236}">
                <a16:creationId xmlns:a16="http://schemas.microsoft.com/office/drawing/2014/main" id="{B866112C-C1BF-4379-9748-0030C29155D6}"/>
              </a:ext>
            </a:extLst>
          </p:cNvPr>
          <p:cNvSpPr/>
          <p:nvPr/>
        </p:nvSpPr>
        <p:spPr>
          <a:xfrm>
            <a:off x="10349368" y="2299605"/>
            <a:ext cx="676656" cy="676656"/>
          </a:xfrm>
          <a:prstGeom prst="noSmoking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2060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Bloc </a:t>
            </a:r>
            <a:r>
              <a:rPr lang="fr-CA" b="1" dirty="0" err="1">
                <a:solidFill>
                  <a:srgbClr val="FA4098"/>
                </a:solidFill>
              </a:rPr>
              <a:t>else</a:t>
            </a:r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Les blocs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/>
              <a:t> </a:t>
            </a:r>
            <a:r>
              <a:rPr lang="fr-CA" b="1" u="sng" dirty="0"/>
              <a:t>peuvent</a:t>
            </a:r>
            <a:r>
              <a:rPr lang="fr-CA" dirty="0"/>
              <a:t> être accompagnés d’un bloc </a:t>
            </a:r>
            <a:r>
              <a:rPr lang="fr-CA" b="1" dirty="0" err="1">
                <a:solidFill>
                  <a:srgbClr val="FA4098"/>
                </a:solidFill>
              </a:rPr>
              <a:t>else</a:t>
            </a:r>
            <a:r>
              <a:rPr lang="fr-CA" dirty="0"/>
              <a:t>.</a:t>
            </a:r>
          </a:p>
          <a:p>
            <a:pPr lvl="1"/>
            <a:r>
              <a:rPr lang="fr-CA" dirty="0"/>
              <a:t> Syntaxe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2"/>
            <a:r>
              <a:rPr lang="fr-CA" dirty="0"/>
              <a:t> Le </a:t>
            </a:r>
            <a:r>
              <a:rPr lang="fr-CA" b="1" dirty="0" err="1">
                <a:solidFill>
                  <a:srgbClr val="FA4098"/>
                </a:solidFill>
              </a:rPr>
              <a:t>else</a:t>
            </a:r>
            <a:r>
              <a:rPr lang="fr-CA" dirty="0"/>
              <a:t> n’est pas suivi d’une </a:t>
            </a:r>
            <a:r>
              <a:rPr lang="fr-CA" b="1" dirty="0"/>
              <a:t>condition</a:t>
            </a:r>
            <a:r>
              <a:rPr lang="fr-CA" dirty="0"/>
              <a:t>, car il est associé à la même condition que le </a:t>
            </a:r>
            <a:r>
              <a:rPr lang="fr-CA" b="1" dirty="0">
                <a:solidFill>
                  <a:srgbClr val="FA4098"/>
                </a:solidFill>
              </a:rPr>
              <a:t>if</a:t>
            </a:r>
            <a:r>
              <a:rPr lang="fr-CA" dirty="0"/>
              <a:t>.</a:t>
            </a:r>
          </a:p>
          <a:p>
            <a:pPr lvl="2"/>
            <a:r>
              <a:rPr lang="fr-CA" dirty="0"/>
              <a:t> Le bloc de code sous le </a:t>
            </a:r>
            <a:r>
              <a:rPr lang="fr-CA" b="1" dirty="0" err="1">
                <a:solidFill>
                  <a:srgbClr val="FA4098"/>
                </a:solidFill>
              </a:rPr>
              <a:t>else</a:t>
            </a:r>
            <a:r>
              <a:rPr lang="fr-CA" dirty="0"/>
              <a:t> s’exécute seulement si la condition est </a:t>
            </a:r>
            <a:r>
              <a:rPr lang="fr-CA" b="1" dirty="0">
                <a:solidFill>
                  <a:schemeClr val="tx1"/>
                </a:solidFill>
              </a:rPr>
              <a:t>false</a:t>
            </a:r>
            <a:r>
              <a:rPr lang="fr-CA" dirty="0"/>
              <a:t>.</a:t>
            </a:r>
          </a:p>
          <a:p>
            <a:pPr lvl="3"/>
            <a:r>
              <a:rPr lang="fr-CA" dirty="0"/>
              <a:t> Ainsi, il y a forcément </a:t>
            </a:r>
            <a:r>
              <a:rPr lang="fr-CA" b="1" dirty="0"/>
              <a:t>un seul des deux </a:t>
            </a:r>
            <a:r>
              <a:rPr lang="fr-CA" dirty="0"/>
              <a:t>blocs de code qui s’</a:t>
            </a:r>
            <a:r>
              <a:rPr lang="fr-CA" dirty="0" err="1"/>
              <a:t>éxécutera</a:t>
            </a:r>
            <a:r>
              <a:rPr lang="fr-CA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C03CA-C022-4191-AB28-412FBEC97C8E}"/>
              </a:ext>
            </a:extLst>
          </p:cNvPr>
          <p:cNvSpPr/>
          <p:nvPr/>
        </p:nvSpPr>
        <p:spPr>
          <a:xfrm>
            <a:off x="2418588" y="2493264"/>
            <a:ext cx="7354824" cy="1993392"/>
          </a:xfrm>
          <a:prstGeom prst="rect">
            <a:avLst/>
          </a:prstGeom>
          <a:solidFill>
            <a:schemeClr val="bg1"/>
          </a:solidFill>
          <a:ln w="38100">
            <a:solidFill>
              <a:srgbClr val="907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/*...Condition...*/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true »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sz="16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est « false »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2CA0AF3-F30E-440E-9C8B-62B46C3AD7DB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9073D1"/>
                </a:solidFill>
              </a:rPr>
              <a:t>Exemple dans la vie </a:t>
            </a:r>
            <a:r>
              <a:rPr lang="fr-CA">
                <a:solidFill>
                  <a:srgbClr val="9073D1"/>
                </a:solidFill>
              </a:rPr>
              <a:t>: </a:t>
            </a:r>
            <a:r>
              <a:rPr lang="en-CA">
                <a:solidFill>
                  <a:srgbClr val="9073D1"/>
                </a:solidFill>
              </a:rPr>
              <a:t>Si tu m’aides à déménager, je te paye une pizza. Sinon, nous ne seront plus amis. Dans ce cas, le fait d’aider ET de ne pas aider ont une conséquence.</a:t>
            </a:r>
            <a:endParaRPr lang="fr-CA">
              <a:solidFill>
                <a:srgbClr val="907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1263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Bloc </a:t>
            </a:r>
            <a:r>
              <a:rPr lang="fr-CA" b="1">
                <a:solidFill>
                  <a:srgbClr val="FA4098"/>
                </a:solidFill>
              </a:rPr>
              <a:t>else</a:t>
            </a:r>
          </a:p>
          <a:p>
            <a:pPr lvl="1"/>
            <a:r>
              <a:rPr lang="fr-CA"/>
              <a:t> </a:t>
            </a:r>
            <a:r>
              <a:rPr lang="fr-CA" b="1"/>
              <a:t>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BD9FBB-6B7C-42DD-A466-EE4D78159F21}"/>
              </a:ext>
            </a:extLst>
          </p:cNvPr>
          <p:cNvSpPr/>
          <p:nvPr/>
        </p:nvSpPr>
        <p:spPr>
          <a:xfrm>
            <a:off x="971155" y="3184635"/>
            <a:ext cx="10140382" cy="2390362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"Maxime";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"Maxime" ||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"Maude" ||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"Mathieu")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"Enseignant(e)";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"Étudiant(e)";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0D59D57-5194-4FA7-B0AF-B5A2F06F48D8}"/>
              </a:ext>
            </a:extLst>
          </p:cNvPr>
          <p:cNvSpPr txBox="1"/>
          <p:nvPr/>
        </p:nvSpPr>
        <p:spPr>
          <a:xfrm>
            <a:off x="971155" y="2409831"/>
            <a:ext cx="1062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Ici, la condition du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BF779D"/>
                </a:solidFill>
              </a:rPr>
              <a:t> </a:t>
            </a:r>
            <a:r>
              <a:rPr lang="fr-CA">
                <a:solidFill>
                  <a:srgbClr val="797CDE"/>
                </a:solidFill>
              </a:rPr>
              <a:t>est</a:t>
            </a:r>
            <a:r>
              <a:rPr lang="fr-CA">
                <a:solidFill>
                  <a:srgbClr val="BF779D"/>
                </a:solidFill>
              </a:rPr>
              <a:t> </a:t>
            </a:r>
            <a:r>
              <a:rPr lang="fr-CA" b="1"/>
              <a:t>true</a:t>
            </a:r>
            <a:r>
              <a:rPr lang="fr-CA">
                <a:solidFill>
                  <a:srgbClr val="797CDE"/>
                </a:solidFill>
              </a:rPr>
              <a:t>. On va donc seulement exécuter le code du bloc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797CDE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On met le texte </a:t>
            </a:r>
            <a:r>
              <a:rPr lang="fr-CA"/>
              <a:t>"Enseignant(e)"</a:t>
            </a:r>
            <a:r>
              <a:rPr lang="fr-CA">
                <a:solidFill>
                  <a:srgbClr val="797CDE"/>
                </a:solidFill>
              </a:rPr>
              <a:t> à l’élément </a:t>
            </a:r>
            <a:r>
              <a:rPr lang="fr-CA" b="1">
                <a:solidFill>
                  <a:srgbClr val="73B3D1"/>
                </a:solidFill>
              </a:rPr>
              <a:t>#personne</a:t>
            </a:r>
            <a:r>
              <a:rPr lang="fr-CA">
                <a:solidFill>
                  <a:srgbClr val="BF779D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1883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Bloc </a:t>
            </a:r>
            <a:r>
              <a:rPr lang="fr-CA" b="1">
                <a:solidFill>
                  <a:srgbClr val="FA4098"/>
                </a:solidFill>
              </a:rPr>
              <a:t>else</a:t>
            </a:r>
          </a:p>
          <a:p>
            <a:pPr lvl="1"/>
            <a:r>
              <a:rPr lang="fr-CA"/>
              <a:t> </a:t>
            </a:r>
            <a:r>
              <a:rPr lang="fr-CA" b="1"/>
              <a:t>Exemples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3383E-BB5B-47E2-B03E-9983735817D5}"/>
              </a:ext>
            </a:extLst>
          </p:cNvPr>
          <p:cNvSpPr/>
          <p:nvPr/>
        </p:nvSpPr>
        <p:spPr>
          <a:xfrm>
            <a:off x="895901" y="3330408"/>
            <a:ext cx="10221942" cy="2377020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"Thérèse";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"Maxime" ||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"Maude" || 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"Mathieu")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"Enseignant(e)";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document.querySelector("</a:t>
            </a:r>
            <a:r>
              <a:rPr lang="fr-CA" sz="16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#personne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").textContent = "Étudiant(e)";</a:t>
            </a:r>
          </a:p>
          <a:p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5DC83BE-C8B2-462D-B25A-7EA03CF7F802}"/>
              </a:ext>
            </a:extLst>
          </p:cNvPr>
          <p:cNvSpPr txBox="1"/>
          <p:nvPr/>
        </p:nvSpPr>
        <p:spPr>
          <a:xfrm>
            <a:off x="895901" y="2487168"/>
            <a:ext cx="96165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Ici, la condition du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BF779D"/>
                </a:solidFill>
              </a:rPr>
              <a:t> </a:t>
            </a:r>
            <a:r>
              <a:rPr lang="fr-CA">
                <a:solidFill>
                  <a:srgbClr val="797CDE"/>
                </a:solidFill>
              </a:rPr>
              <a:t>est</a:t>
            </a:r>
            <a:r>
              <a:rPr lang="fr-CA">
                <a:solidFill>
                  <a:srgbClr val="BF779D"/>
                </a:solidFill>
              </a:rPr>
              <a:t> </a:t>
            </a:r>
            <a:r>
              <a:rPr lang="fr-CA" b="1"/>
              <a:t>false</a:t>
            </a:r>
            <a:r>
              <a:rPr lang="fr-CA">
                <a:solidFill>
                  <a:srgbClr val="797CDE"/>
                </a:solidFill>
              </a:rPr>
              <a:t>. On va donc ignorer le code du bloc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797CDE"/>
                </a:solidFill>
              </a:rPr>
              <a:t> et exécuter le bloc </a:t>
            </a:r>
            <a:r>
              <a:rPr lang="fr-CA" b="1">
                <a:solidFill>
                  <a:srgbClr val="FA4098"/>
                </a:solidFill>
              </a:rPr>
              <a:t>else</a:t>
            </a:r>
            <a:r>
              <a:rPr lang="fr-CA">
                <a:solidFill>
                  <a:srgbClr val="797CDE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On met le texte </a:t>
            </a:r>
            <a:r>
              <a:rPr lang="fr-CA"/>
              <a:t>"Enseignant(e)"</a:t>
            </a:r>
            <a:r>
              <a:rPr lang="fr-CA">
                <a:solidFill>
                  <a:srgbClr val="797CDE"/>
                </a:solidFill>
              </a:rPr>
              <a:t> à l’élément </a:t>
            </a:r>
            <a:r>
              <a:rPr lang="fr-CA" b="1">
                <a:solidFill>
                  <a:srgbClr val="73B3D1"/>
                </a:solidFill>
              </a:rPr>
              <a:t>#personne</a:t>
            </a:r>
            <a:r>
              <a:rPr lang="fr-CA">
                <a:solidFill>
                  <a:srgbClr val="BF779D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fr-CA">
              <a:solidFill>
                <a:srgbClr val="BF779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0545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Bloc </a:t>
            </a:r>
            <a:r>
              <a:rPr lang="fr-CA" b="1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/>
              <a:t> Permet d’insérer </a:t>
            </a:r>
            <a:r>
              <a:rPr lang="fr-CA" b="1" u="sng"/>
              <a:t>une ou plusieurs</a:t>
            </a:r>
            <a:r>
              <a:rPr lang="fr-CA"/>
              <a:t> conditions alternatives</a:t>
            </a:r>
          </a:p>
          <a:p>
            <a:pPr lvl="1"/>
            <a:r>
              <a:rPr lang="fr-CA"/>
              <a:t> Syntaxe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074C9C-00AA-420B-A6DF-C591D2A89015}"/>
              </a:ext>
            </a:extLst>
          </p:cNvPr>
          <p:cNvSpPr/>
          <p:nvPr/>
        </p:nvSpPr>
        <p:spPr>
          <a:xfrm>
            <a:off x="164875" y="2557744"/>
            <a:ext cx="11858649" cy="3357902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 1...*/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1 est « 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/*...Condition 2...*/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la condition 1 est « 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 et la condition 2 est « 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»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exécuter si les conditions 1 et 2 sont « false »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6BAB420-62E0-4822-8932-91B6CFE6669C}"/>
              </a:ext>
            </a:extLst>
          </p:cNvPr>
          <p:cNvSpPr txBox="1"/>
          <p:nvPr/>
        </p:nvSpPr>
        <p:spPr>
          <a:xfrm>
            <a:off x="716280" y="6124773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9073D1"/>
                </a:solidFill>
              </a:rPr>
              <a:t>Exemple dans la vie </a:t>
            </a:r>
            <a:r>
              <a:rPr lang="fr-CA">
                <a:solidFill>
                  <a:srgbClr val="9073D1"/>
                </a:solidFill>
              </a:rPr>
              <a:t>: Si tu es riche, je veux être ton meilleur ami. Sinon, si tu as une belle personnalité, je veux être ton ami. Sinon, je ne veux pas être ton ami. </a:t>
            </a:r>
          </a:p>
        </p:txBody>
      </p:sp>
    </p:spTree>
    <p:extLst>
      <p:ext uri="{BB962C8B-B14F-4D97-AF65-F5344CB8AC3E}">
        <p14:creationId xmlns:p14="http://schemas.microsoft.com/office/powerpoint/2010/main" val="2949012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Bloc </a:t>
            </a:r>
            <a:r>
              <a:rPr lang="fr-CA" b="1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/>
              <a:t> Exemple 1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72E9B6-09D1-4CD7-B44D-016A06B5FB01}"/>
              </a:ext>
            </a:extLst>
          </p:cNvPr>
          <p:cNvSpPr/>
          <p:nvPr/>
        </p:nvSpPr>
        <p:spPr>
          <a:xfrm>
            <a:off x="3462109" y="2466406"/>
            <a:ext cx="8518424" cy="3710559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6;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3)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"Petit";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 5)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"Grand";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"Moyen";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F17013-6F1C-4273-815D-12A14155B0D5}"/>
              </a:ext>
            </a:extLst>
          </p:cNvPr>
          <p:cNvSpPr txBox="1"/>
          <p:nvPr/>
        </p:nvSpPr>
        <p:spPr>
          <a:xfrm>
            <a:off x="78261" y="2680527"/>
            <a:ext cx="310289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La première condition est </a:t>
            </a:r>
            <a:r>
              <a:rPr lang="fr-CA" b="1"/>
              <a:t>false</a:t>
            </a:r>
            <a:r>
              <a:rPr lang="fr-CA">
                <a:solidFill>
                  <a:srgbClr val="797CDE"/>
                </a:solidFill>
              </a:rPr>
              <a:t>. On saute le bloc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797CDE"/>
                </a:solidFill>
              </a:rPr>
              <a:t>.</a:t>
            </a:r>
          </a:p>
          <a:p>
            <a:endParaRPr lang="fr-CA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La deuxième condition est </a:t>
            </a:r>
            <a:r>
              <a:rPr lang="fr-CA" b="1"/>
              <a:t>true</a:t>
            </a:r>
            <a:r>
              <a:rPr lang="fr-CA">
                <a:solidFill>
                  <a:srgbClr val="797CDE"/>
                </a:solidFill>
              </a:rPr>
              <a:t>. On exécute le bloc </a:t>
            </a:r>
            <a:r>
              <a:rPr lang="fr-CA" b="1">
                <a:solidFill>
                  <a:srgbClr val="FA4098"/>
                </a:solidFill>
              </a:rPr>
              <a:t>else if </a:t>
            </a:r>
            <a:r>
              <a:rPr lang="fr-CA">
                <a:solidFill>
                  <a:srgbClr val="797CDE"/>
                </a:solidFill>
              </a:rPr>
              <a:t>!</a:t>
            </a:r>
            <a:endParaRPr lang="fr-CA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On saute le </a:t>
            </a:r>
            <a:r>
              <a:rPr lang="fr-CA" b="1">
                <a:solidFill>
                  <a:srgbClr val="FA4098"/>
                </a:solidFill>
              </a:rPr>
              <a:t>else</a:t>
            </a:r>
            <a:r>
              <a:rPr lang="fr-CA">
                <a:solidFill>
                  <a:srgbClr val="797CDE"/>
                </a:solidFill>
              </a:rPr>
              <a:t> puisqu’un des blocs au-dessus était </a:t>
            </a:r>
            <a:r>
              <a:rPr lang="fr-CA" b="1"/>
              <a:t>true</a:t>
            </a:r>
            <a:r>
              <a:rPr lang="fr-CA">
                <a:solidFill>
                  <a:srgbClr val="BF779D"/>
                </a:solidFill>
              </a:rPr>
              <a:t>.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 On met le texte « Grand » à l’</a:t>
            </a:r>
            <a:r>
              <a:rPr lang="fr-CA" b="1">
                <a:solidFill>
                  <a:srgbClr val="73B3D1"/>
                </a:solidFill>
              </a:rPr>
              <a:t>élément</a:t>
            </a:r>
            <a:r>
              <a:rPr lang="fr-CA">
                <a:solidFill>
                  <a:srgbClr val="797CDE"/>
                </a:solidFill>
              </a:rPr>
              <a:t>.</a:t>
            </a:r>
            <a:endParaRPr lang="fr-CA">
              <a:solidFill>
                <a:srgbClr val="BF779D"/>
              </a:solidFill>
            </a:endParaRP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336EAF6-4ACC-4553-863F-25C2D0C14740}"/>
              </a:ext>
            </a:extLst>
          </p:cNvPr>
          <p:cNvCxnSpPr>
            <a:cxnSpLocks/>
          </p:cNvCxnSpPr>
          <p:nvPr/>
        </p:nvCxnSpPr>
        <p:spPr>
          <a:xfrm flipV="1">
            <a:off x="2848244" y="2968122"/>
            <a:ext cx="533659" cy="222818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E6582D5-3121-4CE6-AEAD-26D541AEB992}"/>
              </a:ext>
            </a:extLst>
          </p:cNvPr>
          <p:cNvCxnSpPr>
            <a:cxnSpLocks/>
          </p:cNvCxnSpPr>
          <p:nvPr/>
        </p:nvCxnSpPr>
        <p:spPr>
          <a:xfrm>
            <a:off x="2819401" y="4050548"/>
            <a:ext cx="525762" cy="0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4206FEE-B1A7-4870-915B-1829EBAA1AB6}"/>
              </a:ext>
            </a:extLst>
          </p:cNvPr>
          <p:cNvCxnSpPr>
            <a:cxnSpLocks/>
          </p:cNvCxnSpPr>
          <p:nvPr/>
        </p:nvCxnSpPr>
        <p:spPr>
          <a:xfrm>
            <a:off x="2879955" y="5104314"/>
            <a:ext cx="465208" cy="54163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261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E14CC12-1FCB-4AB0-8778-F90C33B2CCCA}"/>
              </a:ext>
            </a:extLst>
          </p:cNvPr>
          <p:cNvSpPr/>
          <p:nvPr/>
        </p:nvSpPr>
        <p:spPr>
          <a:xfrm>
            <a:off x="3462109" y="2466406"/>
            <a:ext cx="8518424" cy="3710559"/>
          </a:xfrm>
          <a:prstGeom prst="rect">
            <a:avLst/>
          </a:prstGeom>
          <a:solidFill>
            <a:schemeClr val="bg1"/>
          </a:solidFill>
          <a:ln w="38100">
            <a:solidFill>
              <a:srgbClr val="797C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4;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3)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"Petit";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if(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&gt; 5)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"Grand";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 = "Moyen";</a:t>
            </a:r>
            <a:endParaRPr lang="fr-CA" b="1">
              <a:solidFill>
                <a:srgbClr val="BF779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E12D4ED-9197-4741-8787-7DAA6E4E4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Bloc </a:t>
            </a:r>
            <a:r>
              <a:rPr lang="fr-CA" b="1">
                <a:solidFill>
                  <a:srgbClr val="FA4098"/>
                </a:solidFill>
              </a:rPr>
              <a:t>else if</a:t>
            </a:r>
          </a:p>
          <a:p>
            <a:pPr lvl="1"/>
            <a:r>
              <a:rPr lang="fr-CA"/>
              <a:t> Exemple 2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56C8633-1B0C-49E5-AB73-8F144FF67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Instructions conditionnelles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F17013-6F1C-4273-815D-12A14155B0D5}"/>
              </a:ext>
            </a:extLst>
          </p:cNvPr>
          <p:cNvSpPr txBox="1"/>
          <p:nvPr/>
        </p:nvSpPr>
        <p:spPr>
          <a:xfrm>
            <a:off x="80335" y="2546285"/>
            <a:ext cx="29907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La première condition est </a:t>
            </a:r>
            <a:r>
              <a:rPr lang="fr-CA" b="1"/>
              <a:t>false</a:t>
            </a:r>
            <a:r>
              <a:rPr lang="fr-CA">
                <a:solidFill>
                  <a:srgbClr val="797CDE"/>
                </a:solidFill>
              </a:rPr>
              <a:t>. On saute le bloc </a:t>
            </a:r>
            <a:r>
              <a:rPr lang="fr-CA" b="1">
                <a:solidFill>
                  <a:srgbClr val="FA4098"/>
                </a:solidFill>
              </a:rPr>
              <a:t>if</a:t>
            </a:r>
            <a:r>
              <a:rPr lang="fr-CA">
                <a:solidFill>
                  <a:srgbClr val="797CDE"/>
                </a:solidFill>
              </a:rPr>
              <a:t>.</a:t>
            </a:r>
          </a:p>
          <a:p>
            <a:endParaRPr lang="fr-CA">
              <a:solidFill>
                <a:srgbClr val="797CDE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La deuxième condition est </a:t>
            </a:r>
            <a:r>
              <a:rPr lang="fr-CA" b="1"/>
              <a:t>false</a:t>
            </a:r>
            <a:r>
              <a:rPr lang="fr-CA">
                <a:solidFill>
                  <a:srgbClr val="797CDE"/>
                </a:solidFill>
              </a:rPr>
              <a:t>. On saute le bloc </a:t>
            </a:r>
            <a:r>
              <a:rPr lang="fr-CA" b="1">
                <a:solidFill>
                  <a:srgbClr val="FA4098"/>
                </a:solidFill>
              </a:rPr>
              <a:t>else if</a:t>
            </a:r>
            <a:r>
              <a:rPr lang="fr-CA">
                <a:solidFill>
                  <a:srgbClr val="797CDE"/>
                </a:solidFill>
              </a:rPr>
              <a:t>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>
              <a:solidFill>
                <a:srgbClr val="BF779D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>
                <a:solidFill>
                  <a:srgbClr val="797CDE"/>
                </a:solidFill>
              </a:rPr>
              <a:t>On exécute le </a:t>
            </a:r>
            <a:r>
              <a:rPr lang="fr-CA" b="1">
                <a:solidFill>
                  <a:srgbClr val="FA4098"/>
                </a:solidFill>
              </a:rPr>
              <a:t>else</a:t>
            </a:r>
            <a:r>
              <a:rPr lang="fr-CA">
                <a:solidFill>
                  <a:srgbClr val="FA4098"/>
                </a:solidFill>
              </a:rPr>
              <a:t> </a:t>
            </a:r>
            <a:r>
              <a:rPr lang="fr-CA">
                <a:solidFill>
                  <a:srgbClr val="797CDE"/>
                </a:solidFill>
              </a:rPr>
              <a:t>puisque les deux blocs au-dessus était</a:t>
            </a:r>
            <a:r>
              <a:rPr lang="fr-CA">
                <a:solidFill>
                  <a:srgbClr val="BF779D"/>
                </a:solidFill>
              </a:rPr>
              <a:t> </a:t>
            </a:r>
            <a:r>
              <a:rPr lang="fr-CA" b="1"/>
              <a:t>false</a:t>
            </a:r>
            <a:r>
              <a:rPr lang="fr-CA">
                <a:solidFill>
                  <a:srgbClr val="BF779D"/>
                </a:solidFill>
              </a:rPr>
              <a:t>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>
              <a:solidFill>
                <a:srgbClr val="BF779D"/>
              </a:solidFill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  On met le texte « Moyen » à l’</a:t>
            </a:r>
            <a:r>
              <a:rPr lang="fr-CA" b="1">
                <a:solidFill>
                  <a:srgbClr val="73B3D1"/>
                </a:solidFill>
              </a:rPr>
              <a:t>élément</a:t>
            </a:r>
            <a:r>
              <a:rPr lang="fr-CA">
                <a:solidFill>
                  <a:srgbClr val="797CDE"/>
                </a:solidFill>
              </a:rPr>
              <a:t>.</a:t>
            </a:r>
            <a:endParaRPr lang="fr-CA">
              <a:solidFill>
                <a:srgbClr val="BF779D"/>
              </a:solidFill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fr-CA">
              <a:solidFill>
                <a:srgbClr val="BF779D"/>
              </a:solidFill>
            </a:endParaRPr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336EAF6-4ACC-4553-863F-25C2D0C14740}"/>
              </a:ext>
            </a:extLst>
          </p:cNvPr>
          <p:cNvCxnSpPr>
            <a:cxnSpLocks/>
          </p:cNvCxnSpPr>
          <p:nvPr/>
        </p:nvCxnSpPr>
        <p:spPr>
          <a:xfrm>
            <a:off x="2928450" y="2919772"/>
            <a:ext cx="457983" cy="0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E6582D5-3121-4CE6-AEAD-26D541AEB992}"/>
              </a:ext>
            </a:extLst>
          </p:cNvPr>
          <p:cNvCxnSpPr>
            <a:cxnSpLocks/>
          </p:cNvCxnSpPr>
          <p:nvPr/>
        </p:nvCxnSpPr>
        <p:spPr>
          <a:xfrm>
            <a:off x="2989142" y="3941379"/>
            <a:ext cx="397291" cy="102862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4206FEE-B1A7-4870-915B-1829EBAA1AB6}"/>
              </a:ext>
            </a:extLst>
          </p:cNvPr>
          <p:cNvCxnSpPr>
            <a:cxnSpLocks/>
          </p:cNvCxnSpPr>
          <p:nvPr/>
        </p:nvCxnSpPr>
        <p:spPr>
          <a:xfrm>
            <a:off x="2797477" y="5003415"/>
            <a:ext cx="588956" cy="129837"/>
          </a:xfrm>
          <a:prstGeom prst="straightConnector1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0734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55EAD45-621B-4362-B1D1-52F6613E040B}"/>
</file>

<file path=customXml/itemProps2.xml><?xml version="1.0" encoding="utf-8"?>
<ds:datastoreItem xmlns:ds="http://schemas.openxmlformats.org/officeDocument/2006/customXml" ds:itemID="{4EEB6DC4-3641-4835-8896-A834E7E78968}"/>
</file>

<file path=customXml/itemProps3.xml><?xml version="1.0" encoding="utf-8"?>
<ds:datastoreItem xmlns:ds="http://schemas.openxmlformats.org/officeDocument/2006/customXml" ds:itemID="{65D87969-9E07-4213-972A-1044417439BF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13228</TotalTime>
  <Words>2575</Words>
  <Application>Microsoft Office PowerPoint</Application>
  <PresentationFormat>Grand écran</PresentationFormat>
  <Paragraphs>420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Semaine 3</vt:lpstr>
      <vt:lpstr>Menu du jour</vt:lpstr>
      <vt:lpstr>Révision</vt:lpstr>
      <vt:lpstr>Révision</vt:lpstr>
      <vt:lpstr>Révision</vt:lpstr>
      <vt:lpstr>Révision</vt:lpstr>
      <vt:lpstr>Révision</vt:lpstr>
      <vt:lpstr>Constantes</vt:lpstr>
      <vt:lpstr>Constantes</vt:lpstr>
      <vt:lpstr>Variables locales et globales</vt:lpstr>
      <vt:lpstr>Variables locales et globales</vt:lpstr>
      <vt:lpstr>Variables locales et globales</vt:lpstr>
      <vt:lpstr>Variables locales et globales</vt:lpstr>
      <vt:lpstr>Variables locales et globales</vt:lpstr>
      <vt:lpstr>Booléens</vt:lpstr>
      <vt:lpstr>Booléens</vt:lpstr>
      <vt:lpstr>Opérateurs de comparaison</vt:lpstr>
      <vt:lpstr>Opérateurs de comparaison</vt:lpstr>
      <vt:lpstr>Opérateurs de comparaison</vt:lpstr>
      <vt:lpstr>Opérateurs de comparaison</vt:lpstr>
      <vt:lpstr>Opérateurs logiques</vt:lpstr>
      <vt:lpstr>Opérateurs logiques</vt:lpstr>
      <vt:lpstr>Opérateurs logiques</vt:lpstr>
      <vt:lpstr>Opérateurs logiques</vt:lpstr>
      <vt:lpstr>Opérateurs logiques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  <vt:lpstr>Instructions conditionnelles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2523</cp:revision>
  <dcterms:created xsi:type="dcterms:W3CDTF">2021-06-05T18:50:42Z</dcterms:created>
  <dcterms:modified xsi:type="dcterms:W3CDTF">2022-08-14T03:12:37Z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