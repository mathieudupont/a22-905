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  <p:sldId id="291" r:id="rId8"/>
    <p:sldId id="261" r:id="rId9"/>
    <p:sldId id="266" r:id="rId10"/>
    <p:sldId id="286" r:id="rId11"/>
    <p:sldId id="287" r:id="rId12"/>
    <p:sldId id="288" r:id="rId13"/>
    <p:sldId id="289" r:id="rId14"/>
    <p:sldId id="290" r:id="rId15"/>
    <p:sldId id="304" r:id="rId16"/>
    <p:sldId id="305" r:id="rId17"/>
    <p:sldId id="313" r:id="rId18"/>
    <p:sldId id="314" r:id="rId19"/>
    <p:sldId id="262" r:id="rId20"/>
    <p:sldId id="315" r:id="rId21"/>
    <p:sldId id="263" r:id="rId22"/>
    <p:sldId id="292" r:id="rId23"/>
    <p:sldId id="293" r:id="rId24"/>
    <p:sldId id="316" r:id="rId25"/>
    <p:sldId id="296" r:id="rId26"/>
    <p:sldId id="295" r:id="rId27"/>
    <p:sldId id="297" r:id="rId28"/>
    <p:sldId id="309" r:id="rId29"/>
    <p:sldId id="317" r:id="rId30"/>
    <p:sldId id="318" r:id="rId31"/>
    <p:sldId id="3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5D1"/>
    <a:srgbClr val="FA4098"/>
    <a:srgbClr val="739CD1"/>
    <a:srgbClr val="73B3D1"/>
    <a:srgbClr val="9073D1"/>
    <a:srgbClr val="797CDE"/>
    <a:srgbClr val="B177BF"/>
    <a:srgbClr val="000000"/>
    <a:srgbClr val="BF779D"/>
    <a:srgbClr val="FA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08" autoAdjust="0"/>
    <p:restoredTop sz="96727" autoAdjust="0"/>
  </p:normalViewPr>
  <p:slideViewPr>
    <p:cSldViewPr snapToGrid="0">
      <p:cViewPr varScale="1">
        <p:scale>
          <a:sx n="114" d="100"/>
          <a:sy n="114" d="100"/>
        </p:scale>
        <p:origin x="10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3B3D1"/>
                </a:solidFill>
              </a:rPr>
              <a:t>Intro. à la programmation</a:t>
            </a: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2022-10-10</a:t>
            </a:fld>
            <a:endParaRPr lang="fr-CA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Cours 8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Tableaux</a:t>
            </a:r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Révision</a:t>
            </a:r>
          </a:p>
          <a:p>
            <a:r>
              <a:rPr lang="fr-CA" dirty="0">
                <a:solidFill>
                  <a:srgbClr val="739CD1"/>
                </a:solidFill>
              </a:rPr>
              <a:t> Tableaux</a:t>
            </a:r>
          </a:p>
          <a:p>
            <a:r>
              <a:rPr lang="fr-CA" dirty="0">
                <a:solidFill>
                  <a:srgbClr val="7385D1"/>
                </a:solidFill>
              </a:rPr>
              <a:t> Boucles </a:t>
            </a:r>
            <a:r>
              <a:rPr lang="fr-CA">
                <a:solidFill>
                  <a:srgbClr val="7385D1"/>
                </a:solidFill>
              </a:rPr>
              <a:t>et tableau</a:t>
            </a:r>
            <a:endParaRPr lang="fr-CA" dirty="0">
              <a:solidFill>
                <a:srgbClr val="7385D1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A91014F-0761-4A71-A596-658B9BE8A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713720" cy="5026393"/>
          </a:xfrm>
        </p:spPr>
        <p:txBody>
          <a:bodyPr>
            <a:normAutofit/>
          </a:bodyPr>
          <a:lstStyle/>
          <a:p>
            <a:r>
              <a:rPr lang="fr-CA" dirty="0"/>
              <a:t> DOM</a:t>
            </a:r>
          </a:p>
          <a:p>
            <a:pPr lvl="1"/>
            <a:r>
              <a:rPr lang="fr-CA" dirty="0"/>
              <a:t> Classes</a:t>
            </a:r>
          </a:p>
          <a:p>
            <a:pPr lvl="2"/>
            <a:r>
              <a:rPr lang="fr-CA" dirty="0"/>
              <a:t> Ajouter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nouvelle_classe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1600" dirty="0"/>
          </a:p>
          <a:p>
            <a:pPr lvl="2"/>
            <a:r>
              <a:rPr lang="fr-CA" dirty="0"/>
              <a:t> Retirer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ancienne_classe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1600" dirty="0"/>
          </a:p>
          <a:p>
            <a:pPr lvl="2"/>
            <a:r>
              <a:rPr lang="fr-CA" dirty="0"/>
              <a:t> Basculer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toggle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classe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3"/>
            <a:r>
              <a:rPr lang="fr-CA" b="1" dirty="0">
                <a:cs typeface="Courier New" panose="02070309020205020404" pitchFamily="49" charset="0"/>
              </a:rPr>
              <a:t>Retire la classe</a:t>
            </a:r>
            <a:r>
              <a:rPr lang="fr-CA" dirty="0">
                <a:cs typeface="Courier New" panose="02070309020205020404" pitchFamily="49" charset="0"/>
              </a:rPr>
              <a:t> si elle est déjà présente. </a:t>
            </a:r>
            <a:r>
              <a:rPr lang="fr-CA" b="1" dirty="0">
                <a:cs typeface="Courier New" panose="02070309020205020404" pitchFamily="49" charset="0"/>
              </a:rPr>
              <a:t>Ajoute la classe </a:t>
            </a:r>
            <a:r>
              <a:rPr lang="fr-CA" dirty="0">
                <a:cs typeface="Courier New" panose="02070309020205020404" pitchFamily="49" charset="0"/>
              </a:rPr>
              <a:t>si elle n’était pas présente.</a:t>
            </a:r>
          </a:p>
          <a:p>
            <a:pPr lvl="2"/>
            <a:r>
              <a:rPr lang="fr-CA" dirty="0">
                <a:cs typeface="Courier New" panose="02070309020205020404" pitchFamily="49" charset="0"/>
              </a:rPr>
              <a:t> Contient ?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document.querySelector("#id").classList.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("nom_classe")</a:t>
            </a:r>
          </a:p>
          <a:p>
            <a:pPr lvl="3"/>
            <a:r>
              <a:rPr lang="fr-CA" dirty="0">
                <a:cs typeface="Courier New" panose="02070309020205020404" pitchFamily="49" charset="0"/>
              </a:rPr>
              <a:t>Résulte en un </a:t>
            </a:r>
            <a:r>
              <a:rPr lang="fr-CA" b="1" dirty="0">
                <a:cs typeface="Courier New" panose="02070309020205020404" pitchFamily="49" charset="0"/>
              </a:rPr>
              <a:t>booléen</a:t>
            </a:r>
            <a:r>
              <a:rPr lang="fr-CA" dirty="0">
                <a:cs typeface="Courier New" panose="02070309020205020404" pitchFamily="49" charset="0"/>
              </a:rPr>
              <a:t> (true ou false)</a:t>
            </a:r>
          </a:p>
          <a:p>
            <a:pPr marL="914400" lvl="2" indent="0">
              <a:buNone/>
            </a:pPr>
            <a:endParaRPr lang="fr-CA" sz="1600" dirty="0">
              <a:cs typeface="Courier New" panose="02070309020205020404" pitchFamily="49" charset="0"/>
            </a:endParaRPr>
          </a:p>
          <a:p>
            <a:pPr lvl="1"/>
            <a:r>
              <a:rPr lang="fr-CA" dirty="0">
                <a:cs typeface="Courier New" panose="02070309020205020404" pitchFamily="49" charset="0"/>
              </a:rPr>
              <a:t> Attributs</a:t>
            </a:r>
          </a:p>
          <a:p>
            <a:pPr lvl="2"/>
            <a:r>
              <a:rPr lang="fr-CA" dirty="0">
                <a:cs typeface="Courier New" panose="02070309020205020404" pitchFamily="49" charset="0"/>
              </a:rPr>
              <a:t> Ajouter / Modifier : 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4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4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CA" sz="14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dirty="0">
                <a:cs typeface="Courier New" panose="02070309020205020404" pitchFamily="49" charset="0"/>
              </a:rPr>
              <a:t> Retirer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removeAttribute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fr-CA" dirty="0">
              <a:cs typeface="Courier New" panose="02070309020205020404" pitchFamily="49" charset="0"/>
            </a:endParaRPr>
          </a:p>
          <a:p>
            <a:pPr lvl="2"/>
            <a:r>
              <a:rPr lang="fr-CA" dirty="0">
                <a:cs typeface="Courier New" panose="02070309020205020404" pitchFamily="49" charset="0"/>
              </a:rPr>
              <a:t> Obtenir : 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getAttribute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3"/>
            <a:r>
              <a:rPr lang="fr-CA" dirty="0">
                <a:cs typeface="Courier New" panose="02070309020205020404" pitchFamily="49" charset="0"/>
              </a:rPr>
              <a:t>Nous donne la </a:t>
            </a:r>
            <a:r>
              <a:rPr lang="fr-CA" b="1" dirty="0">
                <a:cs typeface="Courier New" panose="02070309020205020404" pitchFamily="49" charset="0"/>
              </a:rPr>
              <a:t>valeur</a:t>
            </a:r>
            <a:r>
              <a:rPr lang="fr-CA" dirty="0">
                <a:cs typeface="Courier New" panose="02070309020205020404" pitchFamily="49" charset="0"/>
              </a:rPr>
              <a:t> associée à cet attribut.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89177C-42D3-40FE-B08C-1778DDFE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 semaine 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8F685E-21CB-43D6-BBC7-1D40DB79EEC1}"/>
              </a:ext>
            </a:extLst>
          </p:cNvPr>
          <p:cNvSpPr txBox="1"/>
          <p:nvPr/>
        </p:nvSpPr>
        <p:spPr>
          <a:xfrm>
            <a:off x="3685031" y="1150572"/>
            <a:ext cx="4821936" cy="369332"/>
          </a:xfrm>
          <a:prstGeom prst="rect">
            <a:avLst/>
          </a:prstGeom>
          <a:noFill/>
          <a:ln w="28575">
            <a:solidFill>
              <a:srgbClr val="73B3D1"/>
            </a:solidFill>
          </a:ln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="maClasse"&gt; ... &lt;/div&gt;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C374B8-E852-425A-934C-E4D0AF483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51" y="6114027"/>
            <a:ext cx="6616817" cy="284371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2010963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B11CEAF-136E-4D9E-88CC-D7D17BF38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Astuce pour éviter de réécrire </a:t>
            </a:r>
            <a:r>
              <a:rPr lang="fr-CA" b="1" dirty="0">
                <a:solidFill>
                  <a:srgbClr val="FA4098"/>
                </a:solidFill>
              </a:rPr>
              <a:t>document.querySelector(...)</a:t>
            </a:r>
            <a:r>
              <a:rPr lang="fr-CA" dirty="0"/>
              <a:t> pour le même élément plusieurs fois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9981F8B-25AE-41FA-B236-0AFF65C9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 semaine 7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64DE2D-448F-4058-97CC-834C631EA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1" y="2313446"/>
            <a:ext cx="6560168" cy="3538714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CA4A5D51-0A47-41D3-9F05-FE4F8B97D99D}"/>
              </a:ext>
            </a:extLst>
          </p:cNvPr>
          <p:cNvSpPr/>
          <p:nvPr/>
        </p:nvSpPr>
        <p:spPr>
          <a:xfrm>
            <a:off x="2514601" y="2926080"/>
            <a:ext cx="768096" cy="316992"/>
          </a:xfrm>
          <a:prstGeom prst="right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2625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A91014F-0761-4A71-A596-658B9BE8A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Boucles</a:t>
            </a:r>
          </a:p>
          <a:p>
            <a:pPr lvl="1"/>
            <a:r>
              <a:rPr lang="fr-CA" dirty="0"/>
              <a:t> Syntaxe :</a:t>
            </a:r>
          </a:p>
          <a:p>
            <a:pPr marL="914400" lvl="2" indent="0">
              <a:buNone/>
            </a:pP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fr-FR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initialisation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d'exécution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incrémentation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914400" lvl="2" indent="0">
              <a:buNone/>
            </a:pP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répéter</a:t>
            </a:r>
          </a:p>
          <a:p>
            <a:pPr marL="914400" lvl="2" indent="0">
              <a:buNone/>
            </a:pP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89177C-42D3-40FE-B08C-1778DDFE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 semaine 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D23CDE-8C3A-413F-AD69-71076CF00AE5}"/>
              </a:ext>
            </a:extLst>
          </p:cNvPr>
          <p:cNvSpPr txBox="1"/>
          <p:nvPr/>
        </p:nvSpPr>
        <p:spPr>
          <a:xfrm>
            <a:off x="3663696" y="4328660"/>
            <a:ext cx="143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3B3D1"/>
                </a:solidFill>
              </a:rPr>
              <a:t>Initialisation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D5E0FF-C479-4CBA-ADF2-929024983808}"/>
              </a:ext>
            </a:extLst>
          </p:cNvPr>
          <p:cNvSpPr txBox="1"/>
          <p:nvPr/>
        </p:nvSpPr>
        <p:spPr>
          <a:xfrm>
            <a:off x="5523297" y="4051661"/>
            <a:ext cx="132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3B3D1"/>
                </a:solidFill>
              </a:rPr>
              <a:t>Condition d’exécution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1DAC83-88D6-4E4C-B8A9-0B8A1A56B9AF}"/>
              </a:ext>
            </a:extLst>
          </p:cNvPr>
          <p:cNvSpPr txBox="1"/>
          <p:nvPr/>
        </p:nvSpPr>
        <p:spPr>
          <a:xfrm>
            <a:off x="6940296" y="4328660"/>
            <a:ext cx="170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3B3D1"/>
                </a:solidFill>
              </a:rPr>
              <a:t>Incrémentation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55E27A9-5064-434F-9D24-5EE79808C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76" y="4622730"/>
            <a:ext cx="6111858" cy="108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2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Stocker plusieurs </a:t>
            </a:r>
            <a:r>
              <a:rPr lang="fr-CA" b="1" dirty="0"/>
              <a:t>données similaires</a:t>
            </a:r>
            <a:r>
              <a:rPr lang="fr-CA" dirty="0"/>
              <a:t>...</a:t>
            </a:r>
          </a:p>
          <a:p>
            <a:pPr lvl="1"/>
            <a:r>
              <a:rPr lang="fr-CA" dirty="0"/>
              <a:t> Exemple : On souhaite stocker le </a:t>
            </a:r>
            <a:r>
              <a:rPr lang="fr-CA" b="1" dirty="0"/>
              <a:t>nom</a:t>
            </a:r>
            <a:r>
              <a:rPr lang="fr-CA" dirty="0"/>
              <a:t> et l’</a:t>
            </a:r>
            <a:r>
              <a:rPr lang="fr-CA" b="1" dirty="0"/>
              <a:t>âge</a:t>
            </a:r>
            <a:r>
              <a:rPr lang="fr-CA" dirty="0"/>
              <a:t> de 7 étudiant(e)s</a:t>
            </a:r>
            <a:endParaRPr lang="fr-CA" b="1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2"/>
            <a:r>
              <a:rPr lang="fr-CA" dirty="0"/>
              <a:t> Oulala... ça fait beaucoup de </a:t>
            </a:r>
            <a:r>
              <a:rPr lang="fr-CA" b="1" dirty="0"/>
              <a:t>variables similaires</a:t>
            </a:r>
            <a:r>
              <a:rPr lang="fr-CA" dirty="0"/>
              <a:t>. On peut se perdre rapidement. 😔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2FD014A-0988-45F2-8BFB-120D8E53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836" y="2367618"/>
            <a:ext cx="2002824" cy="245736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D7D6357-20D5-4F9D-AD60-4AB2CEF2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65" y="2411496"/>
            <a:ext cx="4618203" cy="250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7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Solution : Mettre les données dans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</a:p>
          <a:p>
            <a:pPr lvl="1"/>
            <a:r>
              <a:rPr lang="fr-CA" dirty="0"/>
              <a:t> Les </a:t>
            </a:r>
            <a:r>
              <a:rPr lang="fr-CA" b="1" dirty="0">
                <a:solidFill>
                  <a:srgbClr val="FA4098"/>
                </a:solidFill>
              </a:rPr>
              <a:t>tableaux</a:t>
            </a:r>
            <a:r>
              <a:rPr lang="fr-CA" dirty="0"/>
              <a:t> permettent de ranger des données similaires</a:t>
            </a:r>
          </a:p>
          <a:p>
            <a:pPr lvl="2"/>
            <a:r>
              <a:rPr lang="fr-CA" dirty="0"/>
              <a:t> Syntaxe pour </a:t>
            </a:r>
            <a:r>
              <a:rPr lang="fr-CA" b="1" dirty="0"/>
              <a:t>créer un tableau</a:t>
            </a:r>
            <a:r>
              <a:rPr lang="fr-CA" dirty="0"/>
              <a:t> :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Exemples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D794FBE6-6AF3-4269-9715-48ED729A714D}"/>
              </a:ext>
            </a:extLst>
          </p:cNvPr>
          <p:cNvSpPr/>
          <p:nvPr/>
        </p:nvSpPr>
        <p:spPr>
          <a:xfrm rot="5400000">
            <a:off x="6972146" y="958583"/>
            <a:ext cx="316992" cy="4244829"/>
          </a:xfrm>
          <a:prstGeom prst="rightBrace">
            <a:avLst>
              <a:gd name="adj1" fmla="val 98718"/>
              <a:gd name="adj2" fmla="val 50000"/>
            </a:avLst>
          </a:prstGeom>
          <a:ln w="19050">
            <a:solidFill>
              <a:srgbClr val="739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159FCA2-B5F8-467E-A119-3772947BB452}"/>
              </a:ext>
            </a:extLst>
          </p:cNvPr>
          <p:cNvSpPr txBox="1"/>
          <p:nvPr/>
        </p:nvSpPr>
        <p:spPr>
          <a:xfrm>
            <a:off x="3592068" y="3308894"/>
            <a:ext cx="7094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>
                <a:solidFill>
                  <a:srgbClr val="739CD1"/>
                </a:solidFill>
              </a:rPr>
              <a:t>Données (Séparées par des </a:t>
            </a:r>
            <a:r>
              <a:rPr lang="fr-CA" b="1" dirty="0">
                <a:solidFill>
                  <a:srgbClr val="739CD1"/>
                </a:solidFill>
              </a:rPr>
              <a:t>virgules</a:t>
            </a:r>
            <a:r>
              <a:rPr lang="fr-CA" dirty="0">
                <a:solidFill>
                  <a:srgbClr val="739CD1"/>
                </a:solidFill>
              </a:rPr>
              <a:t>)</a:t>
            </a:r>
          </a:p>
          <a:p>
            <a:pPr algn="ctr"/>
            <a:r>
              <a:rPr lang="fr-CA" dirty="0">
                <a:solidFill>
                  <a:srgbClr val="739CD1"/>
                </a:solidFill>
              </a:rPr>
              <a:t>Peuvent être des </a:t>
            </a:r>
            <a:r>
              <a:rPr lang="fr-CA" dirty="0">
                <a:solidFill>
                  <a:srgbClr val="FA4098"/>
                </a:solidFill>
              </a:rPr>
              <a:t>nombres</a:t>
            </a:r>
            <a:r>
              <a:rPr lang="fr-CA" dirty="0">
                <a:solidFill>
                  <a:srgbClr val="739CD1"/>
                </a:solidFill>
              </a:rPr>
              <a:t>, des </a:t>
            </a:r>
            <a:r>
              <a:rPr lang="fr-CA" dirty="0">
                <a:solidFill>
                  <a:srgbClr val="FA4098"/>
                </a:solidFill>
              </a:rPr>
              <a:t>chaînes de caractères</a:t>
            </a:r>
            <a:r>
              <a:rPr lang="fr-CA" dirty="0">
                <a:solidFill>
                  <a:srgbClr val="739CD1"/>
                </a:solidFill>
              </a:rPr>
              <a:t>, des </a:t>
            </a:r>
            <a:r>
              <a:rPr lang="fr-CA" dirty="0">
                <a:solidFill>
                  <a:srgbClr val="FA4098"/>
                </a:solidFill>
              </a:rPr>
              <a:t>booléens</a:t>
            </a:r>
            <a:r>
              <a:rPr lang="fr-CA" dirty="0">
                <a:solidFill>
                  <a:srgbClr val="739CD1"/>
                </a:solidFill>
              </a:rPr>
              <a:t>, etc.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495F309-0DF8-4969-AD7E-28D514B0C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00" y="4469416"/>
            <a:ext cx="6957200" cy="117691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596BA1F-DB5B-4441-8F4C-47E6B57A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244" y="5871805"/>
            <a:ext cx="5391911" cy="3437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0DE05B5-E986-415A-A97A-35260808A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742" y="2591486"/>
            <a:ext cx="6277851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 </a:t>
            </a:r>
            <a:r>
              <a:rPr lang="fr-CA" b="1" dirty="0"/>
              <a:t>Accéder aux données </a:t>
            </a:r>
            <a:r>
              <a:rPr lang="fr-CA" dirty="0"/>
              <a:t>(aux « éléments ») d’un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</a:p>
          <a:p>
            <a:pPr lvl="1"/>
            <a:r>
              <a:rPr lang="fr-CA" dirty="0"/>
              <a:t> Syntaxe : 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Exemple :</a:t>
            </a:r>
          </a:p>
          <a:p>
            <a:pPr lvl="1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Accéder à la donnée </a:t>
            </a:r>
            <a:r>
              <a:rPr lang="fr-CA" dirty="0">
                <a:solidFill>
                  <a:srgbClr val="FA4098"/>
                </a:solidFill>
              </a:rPr>
              <a:t>"Bleu" </a:t>
            </a:r>
            <a:r>
              <a:rPr lang="fr-CA" dirty="0"/>
              <a:t>et la stocker dans une variable :</a:t>
            </a:r>
          </a:p>
          <a:p>
            <a:pPr marL="1371600" lvl="3" indent="0">
              <a:buNone/>
            </a:pPr>
            <a:r>
              <a:rPr lang="fr-CA" dirty="0"/>
              <a:t>-&gt;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a = couleurs[0]; </a:t>
            </a:r>
            <a:r>
              <a:rPr lang="fr-CA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// a vaut "Bleu"</a:t>
            </a:r>
          </a:p>
          <a:p>
            <a:pPr lvl="2"/>
            <a:r>
              <a:rPr lang="fr-CA" dirty="0"/>
              <a:t> Accéder à la donnée </a:t>
            </a:r>
            <a:r>
              <a:rPr lang="fr-CA" dirty="0">
                <a:solidFill>
                  <a:srgbClr val="FA4098"/>
                </a:solidFill>
              </a:rPr>
              <a:t>"Violet"</a:t>
            </a:r>
            <a:r>
              <a:rPr lang="fr-CA" dirty="0"/>
              <a:t> :</a:t>
            </a:r>
          </a:p>
          <a:p>
            <a:pPr marL="1371600" lvl="3" indent="0">
              <a:buNone/>
            </a:pPr>
            <a:r>
              <a:rPr lang="fr-CA" dirty="0"/>
              <a:t>-&gt;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couleurs[4]</a:t>
            </a:r>
          </a:p>
          <a:p>
            <a:pPr lvl="2"/>
            <a:r>
              <a:rPr lang="fr-CA" dirty="0"/>
              <a:t> Accéder à la donnée </a:t>
            </a:r>
            <a:r>
              <a:rPr lang="fr-CA" dirty="0">
                <a:solidFill>
                  <a:srgbClr val="FA4098"/>
                </a:solidFill>
              </a:rPr>
              <a:t>"Rouge"</a:t>
            </a:r>
            <a:r>
              <a:rPr lang="fr-CA" dirty="0"/>
              <a:t> :</a:t>
            </a:r>
          </a:p>
          <a:p>
            <a:pPr marL="1371600" lvl="3" indent="0">
              <a:buNone/>
            </a:pPr>
            <a:r>
              <a:rPr lang="fr-CA" dirty="0"/>
              <a:t>-&gt;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couleurs[1]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22C3DE-8068-45ED-8813-0B67181DB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698" y="1576333"/>
            <a:ext cx="3077004" cy="533474"/>
          </a:xfrm>
          <a:prstGeom prst="rect">
            <a:avLst/>
          </a:prstGeom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2F4E0A85-57B3-4F07-A229-C6152918CE48}"/>
              </a:ext>
            </a:extLst>
          </p:cNvPr>
          <p:cNvSpPr/>
          <p:nvPr/>
        </p:nvSpPr>
        <p:spPr>
          <a:xfrm rot="5400000">
            <a:off x="6849599" y="1696991"/>
            <a:ext cx="202729" cy="1045464"/>
          </a:xfrm>
          <a:prstGeom prst="rightBrace">
            <a:avLst>
              <a:gd name="adj1" fmla="val 98718"/>
              <a:gd name="adj2" fmla="val 50000"/>
            </a:avLst>
          </a:prstGeom>
          <a:ln w="19050">
            <a:solidFill>
              <a:srgbClr val="739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6C420CD-28F0-4D0D-8951-CDDE178C4D3C}"/>
              </a:ext>
            </a:extLst>
          </p:cNvPr>
          <p:cNvSpPr txBox="1"/>
          <p:nvPr/>
        </p:nvSpPr>
        <p:spPr>
          <a:xfrm>
            <a:off x="5134356" y="2429776"/>
            <a:ext cx="4137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>
                <a:solidFill>
                  <a:srgbClr val="7385D1"/>
                </a:solidFill>
              </a:rPr>
              <a:t>Nombre de </a:t>
            </a:r>
            <a:r>
              <a:rPr lang="fr-CA" b="1" dirty="0">
                <a:solidFill>
                  <a:srgbClr val="FA4098"/>
                </a:solidFill>
              </a:rPr>
              <a:t>0</a:t>
            </a:r>
            <a:r>
              <a:rPr lang="fr-CA" dirty="0">
                <a:solidFill>
                  <a:srgbClr val="739CD1"/>
                </a:solidFill>
              </a:rPr>
              <a:t> </a:t>
            </a:r>
            <a:r>
              <a:rPr lang="fr-CA" dirty="0">
                <a:solidFill>
                  <a:srgbClr val="7385D1"/>
                </a:solidFill>
              </a:rPr>
              <a:t>à «</a:t>
            </a:r>
            <a:r>
              <a:rPr lang="fr-CA" dirty="0">
                <a:solidFill>
                  <a:srgbClr val="739CD1"/>
                </a:solidFill>
              </a:rPr>
              <a:t> </a:t>
            </a:r>
            <a:r>
              <a:rPr lang="fr-CA" dirty="0">
                <a:solidFill>
                  <a:srgbClr val="FA4098"/>
                </a:solidFill>
              </a:rPr>
              <a:t>taille du tableau - 1 </a:t>
            </a:r>
            <a:r>
              <a:rPr lang="fr-CA" dirty="0">
                <a:solidFill>
                  <a:srgbClr val="7385D1"/>
                </a:solidFill>
              </a:rPr>
              <a:t>»</a:t>
            </a:r>
          </a:p>
        </p:txBody>
      </p:sp>
      <p:graphicFrame>
        <p:nvGraphicFramePr>
          <p:cNvPr id="12" name="Tableau 12">
            <a:extLst>
              <a:ext uri="{FF2B5EF4-FFF2-40B4-BE49-F238E27FC236}">
                <a16:creationId xmlns:a16="http://schemas.microsoft.com/office/drawing/2014/main" id="{FACF981A-E62C-41D8-B9BC-1ACD47D5A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41509"/>
              </p:ext>
            </p:extLst>
          </p:nvPr>
        </p:nvGraphicFramePr>
        <p:xfrm>
          <a:off x="9272016" y="4201919"/>
          <a:ext cx="2798120" cy="228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51">
                  <a:extLst>
                    <a:ext uri="{9D8B030D-6E8A-4147-A177-3AD203B41FA5}">
                      <a16:colId xmlns:a16="http://schemas.microsoft.com/office/drawing/2014/main" val="3268554647"/>
                    </a:ext>
                  </a:extLst>
                </a:gridCol>
                <a:gridCol w="1986569">
                  <a:extLst>
                    <a:ext uri="{9D8B030D-6E8A-4147-A177-3AD203B41FA5}">
                      <a16:colId xmlns:a16="http://schemas.microsoft.com/office/drawing/2014/main" val="2714546567"/>
                    </a:ext>
                  </a:extLst>
                </a:gridCol>
              </a:tblGrid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Index</a:t>
                      </a:r>
                    </a:p>
                  </a:txBody>
                  <a:tcPr>
                    <a:solidFill>
                      <a:srgbClr val="739C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Donnée</a:t>
                      </a:r>
                    </a:p>
                  </a:txBody>
                  <a:tcPr>
                    <a:solidFill>
                      <a:srgbClr val="739C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395"/>
                  </a:ext>
                </a:extLst>
              </a:tr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A4098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"Bleu"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046344"/>
                  </a:ext>
                </a:extLst>
              </a:tr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"Rouge"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65525"/>
                  </a:ext>
                </a:extLst>
              </a:tr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"Jaune"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61168"/>
                  </a:ext>
                </a:extLst>
              </a:tr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"Vert"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69951"/>
                  </a:ext>
                </a:extLst>
              </a:tr>
              <a:tr h="380196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"Violet"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37605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C1720EC6-00E8-482F-B404-B1C6BEB918E8}"/>
              </a:ext>
            </a:extLst>
          </p:cNvPr>
          <p:cNvSpPr txBox="1"/>
          <p:nvPr/>
        </p:nvSpPr>
        <p:spPr>
          <a:xfrm>
            <a:off x="7060118" y="6501970"/>
            <a:ext cx="51231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1600" dirty="0">
                <a:solidFill>
                  <a:srgbClr val="7385D1"/>
                </a:solidFill>
              </a:rPr>
              <a:t>Donc pour un tableau avec </a:t>
            </a:r>
            <a:r>
              <a:rPr lang="fr-CA" sz="1600" b="1" dirty="0">
                <a:solidFill>
                  <a:srgbClr val="7385D1"/>
                </a:solidFill>
              </a:rPr>
              <a:t>5 éléments</a:t>
            </a:r>
            <a:r>
              <a:rPr lang="fr-CA" sz="1600" dirty="0">
                <a:solidFill>
                  <a:srgbClr val="7385D1"/>
                </a:solidFill>
              </a:rPr>
              <a:t>, l’index va de </a:t>
            </a:r>
            <a:r>
              <a:rPr lang="fr-CA" sz="1600" dirty="0">
                <a:solidFill>
                  <a:srgbClr val="FA4098"/>
                </a:solidFill>
              </a:rPr>
              <a:t>0</a:t>
            </a:r>
            <a:r>
              <a:rPr lang="fr-CA" sz="1600" dirty="0">
                <a:solidFill>
                  <a:srgbClr val="7385D1"/>
                </a:solidFill>
              </a:rPr>
              <a:t> à </a:t>
            </a:r>
            <a:r>
              <a:rPr lang="fr-CA" sz="1600" dirty="0">
                <a:solidFill>
                  <a:srgbClr val="FA4098"/>
                </a:solidFill>
              </a:rPr>
              <a:t>4</a:t>
            </a:r>
            <a:r>
              <a:rPr lang="fr-CA" sz="1600" dirty="0">
                <a:solidFill>
                  <a:srgbClr val="7385D1"/>
                </a:solidFill>
              </a:rPr>
              <a:t> !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B3AFEDC-B856-41FA-9B45-4C290D50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160" y="3493552"/>
            <a:ext cx="75924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8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 une donnée </a:t>
            </a:r>
            <a:r>
              <a:rPr lang="fr-CA" dirty="0"/>
              <a:t>dans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</a:p>
          <a:p>
            <a:pPr lvl="1"/>
            <a:r>
              <a:rPr lang="fr-CA" dirty="0"/>
              <a:t> Syntaxe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Exemple : </a:t>
            </a:r>
          </a:p>
          <a:p>
            <a:pPr lvl="1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On veut modifier l’élément à l’</a:t>
            </a:r>
            <a:r>
              <a:rPr lang="fr-CA" b="1" dirty="0"/>
              <a:t>index</a:t>
            </a:r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3</a:t>
            </a:r>
            <a:r>
              <a:rPr lang="fr-CA" dirty="0"/>
              <a:t> (C’est-à-dire la quatrième donnée : </a:t>
            </a:r>
            <a:r>
              <a:rPr lang="fr-CA" dirty="0">
                <a:solidFill>
                  <a:srgbClr val="C00000"/>
                </a:solidFill>
              </a:rPr>
              <a:t>"Bernard"</a:t>
            </a:r>
            <a:r>
              <a:rPr lang="fr-CA" dirty="0"/>
              <a:t>)</a:t>
            </a:r>
          </a:p>
          <a:p>
            <a:pPr marL="1371600" lvl="3" indent="0">
              <a:buNone/>
            </a:pP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personnages[3] =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"Yoshi"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371600" lvl="3" indent="0">
              <a:buNone/>
            </a:pPr>
            <a:endParaRPr lang="fr-CA" dirty="0"/>
          </a:p>
          <a:p>
            <a:pPr lvl="3"/>
            <a:r>
              <a:rPr lang="fr-CA" dirty="0"/>
              <a:t>Résultat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D99B69-D052-4181-9E20-1A6EBAFE5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179" y="1897173"/>
            <a:ext cx="5622313" cy="4878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78B0097-56A2-402D-AC08-0C80C4BB3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897" y="2905628"/>
            <a:ext cx="7458205" cy="4400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1A0F9C7-1A47-47C7-965C-1920B115E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5" y="5179595"/>
            <a:ext cx="4400692" cy="36125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6D990FF-4E0F-4863-91B5-76187BE4C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005" y="5019702"/>
            <a:ext cx="516370" cy="68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9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Obtenir la </a:t>
            </a:r>
            <a:r>
              <a:rPr lang="fr-CA" b="1" dirty="0"/>
              <a:t>taille d’un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</a:p>
          <a:p>
            <a:pPr lvl="1"/>
            <a:r>
              <a:rPr lang="fr-CA" dirty="0"/>
              <a:t> Syntaxe</a:t>
            </a:r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dirty="0"/>
              <a:t> Exemple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E0066D-A255-4465-8973-84032789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153" y="1816576"/>
            <a:ext cx="2719693" cy="39559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4BB74EE-6AE1-4410-BDD4-15F5BFA3D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007" y="2979832"/>
            <a:ext cx="7872385" cy="68393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D806639-8CCF-4066-B68C-AE6FA57A4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743" y="4135129"/>
            <a:ext cx="9582912" cy="6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27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E71E9-0F01-4A7A-9D4D-01014A4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Utiliser les données d’un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E84B38-B10A-4124-A412-B48F4163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1" y="1802201"/>
            <a:ext cx="6554115" cy="1705213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54CF426-1732-416B-BD6E-0DC8F7CF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30" y="3815463"/>
            <a:ext cx="11679936" cy="1595524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207038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EF1C9B-240C-4734-A543-E6A69542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push</a:t>
            </a:r>
            <a:r>
              <a:rPr lang="fr-CA">
                <a:solidFill>
                  <a:srgbClr val="FA4098"/>
                </a:solidFill>
              </a:rPr>
              <a:t>() </a:t>
            </a:r>
            <a:r>
              <a:rPr lang="fr-CA"/>
              <a:t>➕</a:t>
            </a:r>
            <a:endParaRPr lang="fr-CA" dirty="0"/>
          </a:p>
          <a:p>
            <a:pPr lvl="1"/>
            <a:r>
              <a:rPr lang="fr-CA" dirty="0"/>
              <a:t> Permet d’ajouter un élément à la fin d’un tableau</a:t>
            </a:r>
          </a:p>
          <a:p>
            <a:pPr marL="914400" lvl="2" indent="0">
              <a:buNone/>
            </a:pP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let 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"Bleu"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"Rouge"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"Jaune"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"Vert"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914400" lvl="2" indent="0">
              <a:buNone/>
            </a:pP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.push(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"Violet"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914400" lvl="2" indent="0">
              <a:buNone/>
            </a:pPr>
            <a:r>
              <a:rPr lang="fr-CA" sz="18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couleurs vaut ["Bleu", "Rouge", "Jaune", "Vert", "Violet"]</a:t>
            </a:r>
          </a:p>
          <a:p>
            <a:pPr marL="914400" lvl="2" indent="0">
              <a:buNone/>
            </a:pPr>
            <a:r>
              <a:rPr lang="fr-CA" sz="18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couleurs.length vaut maintenant 5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3F4D4C2-42DB-40B0-AA65-02D81BC1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Push et Pop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01BB68-31CB-4B7C-8AE4-17AC3909E522}"/>
              </a:ext>
            </a:extLst>
          </p:cNvPr>
          <p:cNvSpPr txBox="1"/>
          <p:nvPr/>
        </p:nvSpPr>
        <p:spPr>
          <a:xfrm>
            <a:off x="344910" y="4311134"/>
            <a:ext cx="114985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"Bleu"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"Rouge"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"Jaune"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"Vert"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algn="ctr"/>
            <a:endParaRPr lang="fr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fr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fr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"Bleu"</a:t>
            </a:r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"Rouge"</a:t>
            </a:r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"Jaune"</a:t>
            </a:r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"Vert"</a:t>
            </a:r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"Violet"</a:t>
            </a:r>
            <a:r>
              <a:rPr lang="fr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fr-CA" dirty="0"/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id="{C302682F-2EF8-4699-9445-850010B1E4EA}"/>
              </a:ext>
            </a:extLst>
          </p:cNvPr>
          <p:cNvSpPr/>
          <p:nvPr/>
        </p:nvSpPr>
        <p:spPr>
          <a:xfrm>
            <a:off x="5786352" y="4802828"/>
            <a:ext cx="615696" cy="487680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3092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A982EF-B7C0-4A91-AAC1-B9550D103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pop() </a:t>
            </a:r>
            <a:r>
              <a:rPr lang="fr-CA" dirty="0"/>
              <a:t>🗑️</a:t>
            </a:r>
          </a:p>
          <a:p>
            <a:pPr lvl="1"/>
            <a:r>
              <a:rPr lang="fr-CA" dirty="0"/>
              <a:t> Permet de retirer un élément à la fin du tableau</a:t>
            </a:r>
          </a:p>
          <a:p>
            <a:pPr marL="914400" lvl="2" indent="0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let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fr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914400" lvl="2" indent="0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.pop();</a:t>
            </a:r>
          </a:p>
          <a:p>
            <a:pPr marL="914400" lvl="2" indent="0">
              <a:buNone/>
            </a:pPr>
            <a:r>
              <a:rPr lang="fr-CA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notes vaut [68, 71, 93]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3F4D4C2-42DB-40B0-AA65-02D81BC1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Push et Pop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AFEB34C-2669-4926-9566-7D84123104DC}"/>
              </a:ext>
            </a:extLst>
          </p:cNvPr>
          <p:cNvSpPr txBox="1"/>
          <p:nvPr/>
        </p:nvSpPr>
        <p:spPr>
          <a:xfrm>
            <a:off x="3657567" y="4116062"/>
            <a:ext cx="48732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pPr algn="ctr"/>
            <a:endParaRPr lang="fr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fr-CA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fr-CA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fr-CA"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6D1A8B78-B7BE-438C-9252-0A3D6D64E734}"/>
              </a:ext>
            </a:extLst>
          </p:cNvPr>
          <p:cNvSpPr/>
          <p:nvPr/>
        </p:nvSpPr>
        <p:spPr>
          <a:xfrm>
            <a:off x="5786352" y="4610886"/>
            <a:ext cx="615696" cy="487680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58752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AD38C4-312E-4E09-9859-DEBFDBE1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splice()</a:t>
            </a:r>
          </a:p>
          <a:p>
            <a:pPr lvl="1"/>
            <a:r>
              <a:rPr lang="fr-CA" dirty="0"/>
              <a:t> Permet de </a:t>
            </a:r>
            <a:r>
              <a:rPr lang="fr-CA" u="sng"/>
              <a:t>retirer</a:t>
            </a:r>
            <a:r>
              <a:rPr lang="fr-CA"/>
              <a:t> et </a:t>
            </a:r>
            <a:r>
              <a:rPr lang="fr-CA" u="sng"/>
              <a:t>d’ajouter</a:t>
            </a:r>
            <a:r>
              <a:rPr lang="fr-CA"/>
              <a:t> </a:t>
            </a:r>
            <a:r>
              <a:rPr lang="fr-CA" dirty="0"/>
              <a:t>des éléments dans un </a:t>
            </a:r>
            <a:r>
              <a:rPr lang="fr-CA" b="1" dirty="0"/>
              <a:t>tableau</a:t>
            </a:r>
          </a:p>
          <a:p>
            <a:pPr lvl="2"/>
            <a:r>
              <a:rPr lang="fr-CA" dirty="0"/>
              <a:t> Et pas juste à la fin comme </a:t>
            </a:r>
            <a:r>
              <a:rPr lang="fr-CA" dirty="0">
                <a:solidFill>
                  <a:srgbClr val="FA4098"/>
                </a:solidFill>
              </a:rPr>
              <a:t>push()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pop() </a:t>
            </a:r>
            <a:r>
              <a:rPr lang="fr-CA" dirty="0"/>
              <a:t>!</a:t>
            </a:r>
          </a:p>
          <a:p>
            <a:pPr lvl="1"/>
            <a:r>
              <a:rPr lang="fr-CA" dirty="0"/>
              <a:t> Syntaxe pour </a:t>
            </a:r>
            <a:r>
              <a:rPr lang="fr-CA" b="1" dirty="0"/>
              <a:t>retirer</a:t>
            </a:r>
            <a:r>
              <a:rPr lang="fr-CA" dirty="0"/>
              <a:t> des éléments</a:t>
            </a:r>
          </a:p>
          <a:p>
            <a:pPr marL="0" indent="0" algn="ctr">
              <a:buNone/>
            </a:pP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monTableau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nbRetirer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ctr">
              <a:buNone/>
            </a:pPr>
            <a:endParaRPr lang="fr-CA" dirty="0"/>
          </a:p>
          <a:p>
            <a:pPr lvl="1"/>
            <a:r>
              <a:rPr lang="fr-CA" dirty="0"/>
              <a:t> Exemple :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["Bleu", "Rouge", "Jaune", "Vert", "Orange", "Violet"];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couleurs vaut maintenant ["Jaune", "Vert", "Orange", "Violet"]</a:t>
            </a:r>
          </a:p>
          <a:p>
            <a:pPr marL="914400" lvl="2" indent="0">
              <a:buNone/>
            </a:pPr>
            <a:endParaRPr lang="fr-CA" dirty="0"/>
          </a:p>
          <a:p>
            <a:pPr lvl="2"/>
            <a:r>
              <a:rPr lang="fr-CA" dirty="0"/>
              <a:t> L’élément à l’</a:t>
            </a:r>
            <a:r>
              <a:rPr lang="fr-CA" dirty="0">
                <a:solidFill>
                  <a:srgbClr val="FA4098"/>
                </a:solidFill>
              </a:rPr>
              <a:t>index</a:t>
            </a:r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0</a:t>
            </a:r>
            <a:r>
              <a:rPr lang="fr-CA" dirty="0"/>
              <a:t> est le premier à être retiré et est inclus dans le nombre total d’éléments à retirer.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5F729F3-756E-4481-B6E0-C5186C3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Splice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5EF230-8430-4582-B37C-104154F76EAA}"/>
              </a:ext>
            </a:extLst>
          </p:cNvPr>
          <p:cNvSpPr txBox="1"/>
          <p:nvPr/>
        </p:nvSpPr>
        <p:spPr>
          <a:xfrm>
            <a:off x="4590288" y="3438216"/>
            <a:ext cx="2523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Premier élément à retirer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5C0376-9958-445B-938D-7D0717B02490}"/>
              </a:ext>
            </a:extLst>
          </p:cNvPr>
          <p:cNvSpPr txBox="1"/>
          <p:nvPr/>
        </p:nvSpPr>
        <p:spPr>
          <a:xfrm>
            <a:off x="7245096" y="3441264"/>
            <a:ext cx="353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Combien d’élément on retire au total ?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26DDD18-5129-4BCB-84E5-DFEE9B808A22}"/>
              </a:ext>
            </a:extLst>
          </p:cNvPr>
          <p:cNvCxnSpPr>
            <a:cxnSpLocks/>
          </p:cNvCxnSpPr>
          <p:nvPr/>
        </p:nvCxnSpPr>
        <p:spPr>
          <a:xfrm flipV="1">
            <a:off x="6022848" y="3171449"/>
            <a:ext cx="603504" cy="266767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2FA1D5A-AC41-4563-9C37-66F46958C64E}"/>
              </a:ext>
            </a:extLst>
          </p:cNvPr>
          <p:cNvCxnSpPr>
            <a:cxnSpLocks/>
          </p:cNvCxnSpPr>
          <p:nvPr/>
        </p:nvCxnSpPr>
        <p:spPr>
          <a:xfrm flipH="1" flipV="1">
            <a:off x="8638032" y="3171449"/>
            <a:ext cx="128016" cy="333751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8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AD38C4-312E-4E09-9859-DEBFDBE1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splice()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Retirer</a:t>
            </a:r>
            <a:r>
              <a:rPr lang="fr-CA" dirty="0"/>
              <a:t> des éléments</a:t>
            </a:r>
          </a:p>
          <a:p>
            <a:pPr lvl="1"/>
            <a:r>
              <a:rPr lang="fr-CA" dirty="0"/>
              <a:t> Autre Exemple :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["Bleu", "Rouge", "Jaune", "Vert", "Orange", "Violet"];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1);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couleurs vaut maintenant ["Bleu", "Rouge", "Vert", "Orange", "Violet"]</a:t>
            </a:r>
          </a:p>
          <a:p>
            <a:pPr marL="914400" lvl="2" indent="0">
              <a:buNone/>
            </a:pPr>
            <a:endParaRPr lang="fr-CA" sz="1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sz="2000" dirty="0">
                <a:cs typeface="Courier New" panose="02070309020205020404" pitchFamily="49" charset="0"/>
              </a:rPr>
              <a:t> </a:t>
            </a:r>
            <a:r>
              <a:rPr lang="fr-CA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"Jaune"</a:t>
            </a:r>
            <a:r>
              <a:rPr lang="fr-CA" sz="2000" dirty="0">
                <a:cs typeface="Courier New" panose="02070309020205020404" pitchFamily="49" charset="0"/>
              </a:rPr>
              <a:t> était l’élément à l’index</a:t>
            </a:r>
            <a:r>
              <a:rPr lang="fr-CA" sz="2000" dirty="0">
                <a:solidFill>
                  <a:srgbClr val="FA4098"/>
                </a:solidFill>
                <a:cs typeface="Courier New" panose="02070309020205020404" pitchFamily="49" charset="0"/>
              </a:rPr>
              <a:t> 2</a:t>
            </a:r>
            <a:r>
              <a:rPr lang="fr-CA" sz="2000" dirty="0">
                <a:cs typeface="Courier New" panose="02070309020205020404" pitchFamily="49" charset="0"/>
              </a:rPr>
              <a:t> </a:t>
            </a:r>
            <a:r>
              <a:rPr lang="fr-CA" sz="2000">
                <a:cs typeface="Courier New" panose="02070309020205020404" pitchFamily="49" charset="0"/>
              </a:rPr>
              <a:t>et seulement </a:t>
            </a:r>
            <a:r>
              <a:rPr lang="fr-CA" sz="2000">
                <a:solidFill>
                  <a:srgbClr val="FA4098"/>
                </a:solidFill>
                <a:cs typeface="Courier New" panose="02070309020205020404" pitchFamily="49" charset="0"/>
              </a:rPr>
              <a:t>1</a:t>
            </a:r>
            <a:r>
              <a:rPr lang="fr-CA" sz="2000">
                <a:cs typeface="Courier New" panose="02070309020205020404" pitchFamily="49" charset="0"/>
              </a:rPr>
              <a:t> élément </a:t>
            </a:r>
            <a:r>
              <a:rPr lang="fr-CA" sz="2000" dirty="0">
                <a:cs typeface="Courier New" panose="02070309020205020404" pitchFamily="49" charset="0"/>
              </a:rPr>
              <a:t>devait être retiré, au total.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5F729F3-756E-4481-B6E0-C5186C3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Splice</a:t>
            </a:r>
          </a:p>
        </p:txBody>
      </p:sp>
    </p:spTree>
    <p:extLst>
      <p:ext uri="{BB962C8B-B14F-4D97-AF65-F5344CB8AC3E}">
        <p14:creationId xmlns:p14="http://schemas.microsoft.com/office/powerpoint/2010/main" val="30285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AD38C4-312E-4E09-9859-DEBFDBE1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splice()</a:t>
            </a:r>
            <a:endParaRPr lang="fr-CA" dirty="0"/>
          </a:p>
          <a:p>
            <a:pPr lvl="1"/>
            <a:r>
              <a:rPr lang="fr-CA" dirty="0"/>
              <a:t> </a:t>
            </a:r>
            <a:r>
              <a:rPr lang="fr-CA" b="1" dirty="0"/>
              <a:t>Ajouter</a:t>
            </a:r>
            <a:r>
              <a:rPr lang="fr-CA" dirty="0"/>
              <a:t> des éléments</a:t>
            </a:r>
          </a:p>
          <a:p>
            <a:pPr lvl="1"/>
            <a:r>
              <a:rPr lang="fr-CA" dirty="0"/>
              <a:t> Syntaxe pour ajouter des éléments</a:t>
            </a:r>
          </a:p>
          <a:p>
            <a:pPr marL="0" indent="0" algn="ctr">
              <a:buNone/>
            </a:pPr>
            <a:r>
              <a:rPr lang="fr-CA" sz="2000" b="1">
                <a:latin typeface="Courier New" panose="02070309020205020404" pitchFamily="49" charset="0"/>
                <a:cs typeface="Courier New" panose="02070309020205020404" pitchFamily="49" charset="0"/>
              </a:rPr>
              <a:t>monTableau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nbRetirer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valeur1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valeur2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ctr">
              <a:buNone/>
            </a:pPr>
            <a:endParaRPr lang="fr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fr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dirty="0"/>
              <a:t> Exemple :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["Bleu", "Rouge", "Jaune"];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"Rose"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"Turquoise"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couleurs vaut maintenant ["Bleu", "Rose", "Turquoise", "Rouge", "Jaune"]</a:t>
            </a:r>
          </a:p>
          <a:p>
            <a:pPr marL="0" indent="0">
              <a:buNone/>
            </a:pPr>
            <a:endParaRPr lang="fr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5F729F3-756E-4481-B6E0-C5186C3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Splice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EF0EFC-494B-4E6E-9669-C6EAFC371544}"/>
              </a:ext>
            </a:extLst>
          </p:cNvPr>
          <p:cNvSpPr txBox="1"/>
          <p:nvPr/>
        </p:nvSpPr>
        <p:spPr>
          <a:xfrm>
            <a:off x="1658112" y="3041976"/>
            <a:ext cx="2523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Premier élément décalé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5822B6-EBBD-4D56-8AE8-C1246602F73B}"/>
              </a:ext>
            </a:extLst>
          </p:cNvPr>
          <p:cNvSpPr txBox="1"/>
          <p:nvPr/>
        </p:nvSpPr>
        <p:spPr>
          <a:xfrm>
            <a:off x="4056888" y="3045024"/>
            <a:ext cx="353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Combien d’élément on retire au total ?</a:t>
            </a:r>
          </a:p>
          <a:p>
            <a:pPr algn="ctr"/>
            <a:r>
              <a:rPr lang="fr-CA" sz="1600" dirty="0">
                <a:solidFill>
                  <a:srgbClr val="FA4098"/>
                </a:solidFill>
              </a:rPr>
              <a:t>Ceci doit être 0 !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54DEA66-BF6C-4DAB-815E-E9F091CC41B3}"/>
              </a:ext>
            </a:extLst>
          </p:cNvPr>
          <p:cNvCxnSpPr>
            <a:cxnSpLocks/>
          </p:cNvCxnSpPr>
          <p:nvPr/>
        </p:nvCxnSpPr>
        <p:spPr>
          <a:xfrm flipV="1">
            <a:off x="3596640" y="2775210"/>
            <a:ext cx="1048512" cy="266766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E2A7637-392F-4C98-A50C-424E13658F8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823204" y="2775210"/>
            <a:ext cx="230124" cy="269814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784E2F1-8A02-476A-AF12-0D7D7D4AE51E}"/>
              </a:ext>
            </a:extLst>
          </p:cNvPr>
          <p:cNvSpPr txBox="1"/>
          <p:nvPr/>
        </p:nvSpPr>
        <p:spPr>
          <a:xfrm>
            <a:off x="8049216" y="3041976"/>
            <a:ext cx="353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Valeurs à ajouter dans le tableau.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B1E9BCC-F0CD-4D74-9839-52A558442699}"/>
              </a:ext>
            </a:extLst>
          </p:cNvPr>
          <p:cNvCxnSpPr>
            <a:cxnSpLocks/>
          </p:cNvCxnSpPr>
          <p:nvPr/>
        </p:nvCxnSpPr>
        <p:spPr>
          <a:xfrm flipH="1" flipV="1">
            <a:off x="8049216" y="2775210"/>
            <a:ext cx="998772" cy="294270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9551437-B7E0-4B14-81BF-089517180515}"/>
              </a:ext>
            </a:extLst>
          </p:cNvPr>
          <p:cNvCxnSpPr>
            <a:cxnSpLocks/>
          </p:cNvCxnSpPr>
          <p:nvPr/>
        </p:nvCxnSpPr>
        <p:spPr>
          <a:xfrm flipH="1" flipV="1">
            <a:off x="8970474" y="2761458"/>
            <a:ext cx="260394" cy="308022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F97669A-15DA-42FE-BC27-B8F6665ADB75}"/>
              </a:ext>
            </a:extLst>
          </p:cNvPr>
          <p:cNvCxnSpPr>
            <a:cxnSpLocks/>
          </p:cNvCxnSpPr>
          <p:nvPr/>
        </p:nvCxnSpPr>
        <p:spPr>
          <a:xfrm flipV="1">
            <a:off x="9407652" y="2775210"/>
            <a:ext cx="626364" cy="288174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966E6FE-27B4-4E27-AFA3-8AEEB5B8BFB4}"/>
              </a:ext>
            </a:extLst>
          </p:cNvPr>
          <p:cNvSpPr txBox="1"/>
          <p:nvPr/>
        </p:nvSpPr>
        <p:spPr>
          <a:xfrm>
            <a:off x="4181856" y="5522762"/>
            <a:ext cx="4128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["Bleu",   "Rouge", "Jaune"]</a:t>
            </a:r>
            <a:endParaRPr lang="fr-CA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03A1AD6-AEBE-447E-A24D-BB098A0102F2}"/>
              </a:ext>
            </a:extLst>
          </p:cNvPr>
          <p:cNvSpPr txBox="1"/>
          <p:nvPr/>
        </p:nvSpPr>
        <p:spPr>
          <a:xfrm>
            <a:off x="3487901" y="6176965"/>
            <a:ext cx="25237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"Rose", "Turquoise"</a:t>
            </a:r>
            <a:endParaRPr lang="fr-CA" sz="1600"/>
          </a:p>
        </p:txBody>
      </p:sp>
      <p:cxnSp>
        <p:nvCxnSpPr>
          <p:cNvPr id="17" name="Connecteur : en arc 16">
            <a:extLst>
              <a:ext uri="{FF2B5EF4-FFF2-40B4-BE49-F238E27FC236}">
                <a16:creationId xmlns:a16="http://schemas.microsoft.com/office/drawing/2014/main" id="{CF66542F-6BA9-4BFC-BB61-90847C8EC41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71471" y="5489419"/>
            <a:ext cx="381168" cy="996972"/>
          </a:xfrm>
          <a:prstGeom prst="curvedConnector3">
            <a:avLst>
              <a:gd name="adj1" fmla="val 50000"/>
            </a:avLst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63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AD38C4-312E-4E09-9859-DEBFDBE1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splice()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Ajouter</a:t>
            </a:r>
            <a:r>
              <a:rPr lang="fr-CA" dirty="0"/>
              <a:t> des éléments</a:t>
            </a:r>
          </a:p>
          <a:p>
            <a:pPr lvl="1"/>
            <a:r>
              <a:rPr lang="fr-CA" dirty="0"/>
              <a:t> Autre Exemple :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["Bleu", "Rouge", "Jaune"];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0, "Magenta");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couleurs vaut maintenant ["Magenta", "Bleu", "Rouge", "Jaune"]</a:t>
            </a:r>
          </a:p>
          <a:p>
            <a:pPr marL="914400" lvl="2" indent="0">
              <a:buNone/>
            </a:pPr>
            <a:endParaRPr lang="fr-CA" sz="1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sz="2000" dirty="0">
                <a:cs typeface="Courier New" panose="02070309020205020404" pitchFamily="49" charset="0"/>
              </a:rPr>
              <a:t> </a:t>
            </a:r>
            <a:r>
              <a:rPr lang="fr-CA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"Bleu"</a:t>
            </a:r>
            <a:r>
              <a:rPr lang="fr-CA" sz="2000" dirty="0">
                <a:cs typeface="Courier New" panose="02070309020205020404" pitchFamily="49" charset="0"/>
              </a:rPr>
              <a:t> était l’élément à l’</a:t>
            </a:r>
            <a:r>
              <a:rPr lang="fr-CA" sz="2000" dirty="0">
                <a:solidFill>
                  <a:srgbClr val="FA4098"/>
                </a:solidFill>
                <a:cs typeface="Courier New" panose="02070309020205020404" pitchFamily="49" charset="0"/>
              </a:rPr>
              <a:t>index 0</a:t>
            </a:r>
            <a:r>
              <a:rPr lang="fr-CA" sz="2000" dirty="0">
                <a:cs typeface="Courier New" panose="02070309020205020404" pitchFamily="49" charset="0"/>
              </a:rPr>
              <a:t> et on a donc ajouté l’élément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"Magenta"</a:t>
            </a:r>
            <a:r>
              <a:rPr lang="fr-CA" sz="2000" dirty="0">
                <a:cs typeface="Courier New" panose="02070309020205020404" pitchFamily="49" charset="0"/>
              </a:rPr>
              <a:t> juste avant.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5F729F3-756E-4481-B6E0-C5186C3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Splice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F4CF8A-9C03-4C65-8F86-913FCB908487}"/>
              </a:ext>
            </a:extLst>
          </p:cNvPr>
          <p:cNvSpPr txBox="1"/>
          <p:nvPr/>
        </p:nvSpPr>
        <p:spPr>
          <a:xfrm>
            <a:off x="5155692" y="5069892"/>
            <a:ext cx="436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 "Bleu", "Rouge", "Jaune"]</a:t>
            </a: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CD0FFC6-8470-464C-BDFF-8DEB7B6A8087}"/>
              </a:ext>
            </a:extLst>
          </p:cNvPr>
          <p:cNvSpPr txBox="1"/>
          <p:nvPr/>
        </p:nvSpPr>
        <p:spPr>
          <a:xfrm>
            <a:off x="3853612" y="5707428"/>
            <a:ext cx="144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"Magenta"</a:t>
            </a:r>
            <a:endParaRPr lang="fr-CA"/>
          </a:p>
        </p:txBody>
      </p:sp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75FB08C4-BBF2-4E58-834B-8497E025321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84652" y="5074840"/>
            <a:ext cx="381168" cy="996972"/>
          </a:xfrm>
          <a:prstGeom prst="curvedConnector3">
            <a:avLst>
              <a:gd name="adj1" fmla="val 50000"/>
            </a:avLst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43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AD38C4-312E-4E09-9859-DEBFDBE1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splice()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Ajouter ET retirer</a:t>
            </a:r>
            <a:r>
              <a:rPr lang="fr-CA" dirty="0"/>
              <a:t> des éléments</a:t>
            </a:r>
          </a:p>
          <a:p>
            <a:pPr lvl="1"/>
            <a:r>
              <a:rPr lang="fr-CA" dirty="0"/>
              <a:t> Syntaxe pour ajouter des éléments</a:t>
            </a:r>
          </a:p>
          <a:p>
            <a:pPr marL="0" indent="0" algn="ctr">
              <a:buNone/>
            </a:pPr>
            <a:r>
              <a:rPr lang="fr-CA" sz="2000" b="1">
                <a:latin typeface="Courier New" panose="02070309020205020404" pitchFamily="49" charset="0"/>
                <a:cs typeface="Courier New" panose="02070309020205020404" pitchFamily="49" charset="0"/>
              </a:rPr>
              <a:t>monTableau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nbRetirer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valeur1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valeur2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  <a:r>
              <a:rPr lang="fr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ctr">
              <a:buNone/>
            </a:pPr>
            <a:endParaRPr lang="fr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fr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dirty="0"/>
              <a:t> Exemple :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["Bleu", "Rouge", "Jaune", "Vert"];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couleurs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splice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"Beige"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"Lilas"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914400" lvl="2" indent="0">
              <a:buNone/>
            </a:pPr>
            <a:r>
              <a:rPr lang="fr-CA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couleurs vaut maintenant ["Bleu", "Beige", "Lilas", "Vert"]</a:t>
            </a:r>
          </a:p>
          <a:p>
            <a:pPr marL="914400" lvl="2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5F729F3-756E-4481-B6E0-C5186C3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Splice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1BC27F-E75F-462E-9F1C-D7F68E2A2A46}"/>
              </a:ext>
            </a:extLst>
          </p:cNvPr>
          <p:cNvSpPr txBox="1"/>
          <p:nvPr/>
        </p:nvSpPr>
        <p:spPr>
          <a:xfrm>
            <a:off x="1658112" y="3041976"/>
            <a:ext cx="2523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Premier élément à retirer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0EB4F6-9922-43AB-B8E2-AFB3AEE8E395}"/>
              </a:ext>
            </a:extLst>
          </p:cNvPr>
          <p:cNvSpPr txBox="1"/>
          <p:nvPr/>
        </p:nvSpPr>
        <p:spPr>
          <a:xfrm>
            <a:off x="4056888" y="3045024"/>
            <a:ext cx="353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Combien d’élément on retire au total ?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FB8A3C45-5B96-4EFE-ABC6-26389131C31D}"/>
              </a:ext>
            </a:extLst>
          </p:cNvPr>
          <p:cNvCxnSpPr>
            <a:cxnSpLocks/>
          </p:cNvCxnSpPr>
          <p:nvPr/>
        </p:nvCxnSpPr>
        <p:spPr>
          <a:xfrm flipV="1">
            <a:off x="3596640" y="2775210"/>
            <a:ext cx="1048512" cy="266766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0F7FA89-8559-4583-8148-A37435E17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823204" y="2775210"/>
            <a:ext cx="230124" cy="269814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9C576597-D638-4D67-89AE-4B7AC8FE4C71}"/>
              </a:ext>
            </a:extLst>
          </p:cNvPr>
          <p:cNvSpPr txBox="1"/>
          <p:nvPr/>
        </p:nvSpPr>
        <p:spPr>
          <a:xfrm>
            <a:off x="8049216" y="3041976"/>
            <a:ext cx="353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FA4098"/>
                </a:solidFill>
              </a:rPr>
              <a:t>Valeurs à ajouter dans le tableau.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D41562A-623E-4E16-9639-2FEC96E9C213}"/>
              </a:ext>
            </a:extLst>
          </p:cNvPr>
          <p:cNvCxnSpPr>
            <a:cxnSpLocks/>
          </p:cNvCxnSpPr>
          <p:nvPr/>
        </p:nvCxnSpPr>
        <p:spPr>
          <a:xfrm flipH="1" flipV="1">
            <a:off x="8049216" y="2775210"/>
            <a:ext cx="998772" cy="294270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55C60820-A3E2-4864-A8DD-19DDDCF8B3A4}"/>
              </a:ext>
            </a:extLst>
          </p:cNvPr>
          <p:cNvCxnSpPr>
            <a:cxnSpLocks/>
          </p:cNvCxnSpPr>
          <p:nvPr/>
        </p:nvCxnSpPr>
        <p:spPr>
          <a:xfrm flipH="1" flipV="1">
            <a:off x="8970474" y="2761458"/>
            <a:ext cx="260394" cy="308022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E92793FE-015B-49A1-965D-51BB638A37B4}"/>
              </a:ext>
            </a:extLst>
          </p:cNvPr>
          <p:cNvSpPr txBox="1"/>
          <p:nvPr/>
        </p:nvSpPr>
        <p:spPr>
          <a:xfrm>
            <a:off x="4583640" y="5628994"/>
            <a:ext cx="5801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["Bleu",   "Rouge", "Jaune", "Vert"]</a:t>
            </a: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ACDBB9-B8B1-4343-A62F-DB12E0AAA47C}"/>
              </a:ext>
            </a:extLst>
          </p:cNvPr>
          <p:cNvSpPr/>
          <p:nvPr/>
        </p:nvSpPr>
        <p:spPr>
          <a:xfrm>
            <a:off x="6128490" y="5621443"/>
            <a:ext cx="2420112" cy="369332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163288-3293-47AF-916F-3DA3CB506C7E}"/>
              </a:ext>
            </a:extLst>
          </p:cNvPr>
          <p:cNvSpPr txBox="1"/>
          <p:nvPr/>
        </p:nvSpPr>
        <p:spPr>
          <a:xfrm>
            <a:off x="8056074" y="51257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❌</a:t>
            </a:r>
            <a:endParaRPr lang="fr-CA"/>
          </a:p>
        </p:txBody>
      </p:sp>
      <p:cxnSp>
        <p:nvCxnSpPr>
          <p:cNvPr id="17" name="Connecteur : en arc 16">
            <a:extLst>
              <a:ext uri="{FF2B5EF4-FFF2-40B4-BE49-F238E27FC236}">
                <a16:creationId xmlns:a16="http://schemas.microsoft.com/office/drawing/2014/main" id="{98C5472F-C000-4D96-A4AE-46EAEADA30FD}"/>
              </a:ext>
            </a:extLst>
          </p:cNvPr>
          <p:cNvCxnSpPr>
            <a:cxnSpLocks/>
            <a:stCxn id="13" idx="0"/>
            <a:endCxn id="15" idx="1"/>
          </p:cNvCxnSpPr>
          <p:nvPr/>
        </p:nvCxnSpPr>
        <p:spPr>
          <a:xfrm rot="5400000" flipH="1" flipV="1">
            <a:off x="7541785" y="5107154"/>
            <a:ext cx="311050" cy="717528"/>
          </a:xfrm>
          <a:prstGeom prst="curvedConnector2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D45304E1-DF09-4960-AD14-48B3A8B65A44}"/>
              </a:ext>
            </a:extLst>
          </p:cNvPr>
          <p:cNvSpPr txBox="1"/>
          <p:nvPr/>
        </p:nvSpPr>
        <p:spPr>
          <a:xfrm>
            <a:off x="3711426" y="6341165"/>
            <a:ext cx="241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>
                <a:latin typeface="Courier New" panose="02070309020205020404" pitchFamily="49" charset="0"/>
                <a:cs typeface="Courier New" panose="02070309020205020404" pitchFamily="49" charset="0"/>
              </a:rPr>
              <a:t>"Beige", "Lilas"</a:t>
            </a:r>
            <a:endParaRPr lang="fr-CA"/>
          </a:p>
        </p:txBody>
      </p: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8FE9E509-7322-4828-BE44-151210BA71A0}"/>
              </a:ext>
            </a:extLst>
          </p:cNvPr>
          <p:cNvCxnSpPr>
            <a:cxnSpLocks/>
            <a:stCxn id="20" idx="0"/>
            <a:endCxn id="31" idx="2"/>
          </p:cNvCxnSpPr>
          <p:nvPr/>
        </p:nvCxnSpPr>
        <p:spPr>
          <a:xfrm rot="5400000" flipH="1" flipV="1">
            <a:off x="5227860" y="5652095"/>
            <a:ext cx="381168" cy="996972"/>
          </a:xfrm>
          <a:prstGeom prst="curvedConnector3">
            <a:avLst>
              <a:gd name="adj1" fmla="val 50000"/>
            </a:avLst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A56C900-3E74-4DE1-A13A-262B8DAEF88B}"/>
              </a:ext>
            </a:extLst>
          </p:cNvPr>
          <p:cNvSpPr/>
          <p:nvPr/>
        </p:nvSpPr>
        <p:spPr>
          <a:xfrm>
            <a:off x="5823204" y="5621443"/>
            <a:ext cx="18745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3420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Les </a:t>
            </a:r>
            <a:r>
              <a:rPr lang="fr-CA" b="1" dirty="0"/>
              <a:t>boucles</a:t>
            </a:r>
            <a:r>
              <a:rPr lang="fr-CA" dirty="0"/>
              <a:t> et les </a:t>
            </a:r>
            <a:r>
              <a:rPr lang="fr-CA" b="1" dirty="0"/>
              <a:t>tableaux</a:t>
            </a:r>
            <a:r>
              <a:rPr lang="fr-CA" dirty="0"/>
              <a:t> sont « meilleurs amis ».</a:t>
            </a:r>
          </a:p>
          <a:p>
            <a:pPr lvl="1"/>
            <a:r>
              <a:rPr lang="fr-CA" dirty="0"/>
              <a:t>  Pourquoi ? 🙄</a:t>
            </a:r>
          </a:p>
          <a:p>
            <a:pPr lvl="1"/>
            <a:endParaRPr lang="fr-CA" dirty="0"/>
          </a:p>
          <a:p>
            <a:pPr lvl="1"/>
            <a:r>
              <a:rPr lang="fr-CA" sz="2300" dirty="0"/>
              <a:t> Tentons de calculer la somme de </a:t>
            </a:r>
            <a:r>
              <a:rPr lang="fr-CA" sz="2300" b="1" dirty="0"/>
              <a:t>tous les éléments</a:t>
            </a:r>
            <a:r>
              <a:rPr lang="fr-CA" sz="2300" dirty="0"/>
              <a:t> d’un </a:t>
            </a:r>
            <a:r>
              <a:rPr lang="fr-CA" sz="2300" b="1" dirty="0">
                <a:solidFill>
                  <a:srgbClr val="FA4098"/>
                </a:solidFill>
              </a:rPr>
              <a:t>tableau</a:t>
            </a:r>
            <a:r>
              <a:rPr lang="fr-CA" sz="2300" dirty="0"/>
              <a:t> </a:t>
            </a:r>
            <a:r>
              <a:rPr lang="fr-CA" sz="2300"/>
              <a:t>sans boucle :</a:t>
            </a:r>
            <a:endParaRPr lang="fr-CA" sz="2300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dirty="0"/>
              <a:t> Tentons à nouveau, mais avec une </a:t>
            </a:r>
            <a:r>
              <a:rPr lang="fr-CA" b="1" dirty="0">
                <a:solidFill>
                  <a:srgbClr val="FA4098"/>
                </a:solidFill>
              </a:rPr>
              <a:t>boucle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23A11D-F139-4FC9-98F8-35770744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276" y="931286"/>
            <a:ext cx="1990390" cy="1293754"/>
          </a:xfrm>
          <a:prstGeom prst="rect">
            <a:avLst/>
          </a:prstGeom>
          <a:ln w="38100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8E11CD3-7E2A-46E9-8B94-01CEE1A23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028" y="1082584"/>
            <a:ext cx="573667" cy="61798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66004E7-53F7-42BA-BAE3-9205FAF35494}"/>
              </a:ext>
            </a:extLst>
          </p:cNvPr>
          <p:cNvSpPr txBox="1"/>
          <p:nvPr/>
        </p:nvSpPr>
        <p:spPr>
          <a:xfrm>
            <a:off x="7982150" y="3493116"/>
            <a:ext cx="338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rgbClr val="7385D1"/>
                </a:solidFill>
              </a:rPr>
              <a:t>Imaginez s’il y avait eu </a:t>
            </a:r>
            <a:r>
              <a:rPr lang="fr-CA" sz="2000" dirty="0">
                <a:solidFill>
                  <a:srgbClr val="FA4098"/>
                </a:solidFill>
              </a:rPr>
              <a:t>50</a:t>
            </a:r>
            <a:r>
              <a:rPr lang="fr-CA" sz="2000" dirty="0">
                <a:solidFill>
                  <a:srgbClr val="7385D1"/>
                </a:solidFill>
              </a:rPr>
              <a:t> prix à additionner !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275B994-CF70-40D4-9D01-9CE0060C9411}"/>
              </a:ext>
            </a:extLst>
          </p:cNvPr>
          <p:cNvSpPr txBox="1"/>
          <p:nvPr/>
        </p:nvSpPr>
        <p:spPr>
          <a:xfrm>
            <a:off x="6909052" y="5207144"/>
            <a:ext cx="4227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>
                <a:solidFill>
                  <a:srgbClr val="7385D1"/>
                </a:solidFill>
              </a:rPr>
              <a:t>Avant même d’entrer </a:t>
            </a:r>
            <a:r>
              <a:rPr lang="fr-CA" sz="2000" dirty="0">
                <a:solidFill>
                  <a:srgbClr val="7385D1"/>
                </a:solidFill>
              </a:rPr>
              <a:t>dans les détails, on dirait déjà qu’il y a beaucoup moins de </a:t>
            </a:r>
            <a:r>
              <a:rPr lang="fr-CA" sz="2000" u="sng" dirty="0">
                <a:solidFill>
                  <a:srgbClr val="7385D1"/>
                </a:solidFill>
              </a:rPr>
              <a:t>code répétitif</a:t>
            </a:r>
            <a:r>
              <a:rPr lang="fr-CA" sz="2000" dirty="0">
                <a:solidFill>
                  <a:srgbClr val="7385D1"/>
                </a:solidFill>
              </a:rPr>
              <a:t> !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8E8902-FB03-4F5F-822F-80791A498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00994"/>
            <a:ext cx="7058606" cy="944917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8873180-570E-4EE8-AFD2-4B2D737EB80F}"/>
              </a:ext>
            </a:extLst>
          </p:cNvPr>
          <p:cNvSpPr/>
          <p:nvPr/>
        </p:nvSpPr>
        <p:spPr>
          <a:xfrm>
            <a:off x="2615184" y="3706367"/>
            <a:ext cx="5208381" cy="282373"/>
          </a:xfrm>
          <a:prstGeom prst="rect">
            <a:avLst/>
          </a:prstGeom>
          <a:noFill/>
          <a:ln w="19050">
            <a:solidFill>
              <a:srgbClr val="FA4098">
                <a:alpha val="5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96D0626-035C-47D2-A6CB-682E95E37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408" y="4832768"/>
            <a:ext cx="4609920" cy="1870579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E94A54F-888B-4E2D-BE38-13A27CB9FFFE}"/>
              </a:ext>
            </a:extLst>
          </p:cNvPr>
          <p:cNvSpPr/>
          <p:nvPr/>
        </p:nvSpPr>
        <p:spPr>
          <a:xfrm>
            <a:off x="1759707" y="5864112"/>
            <a:ext cx="2147829" cy="792720"/>
          </a:xfrm>
          <a:prstGeom prst="rect">
            <a:avLst/>
          </a:prstGeom>
          <a:noFill/>
          <a:ln w="19050">
            <a:solidFill>
              <a:srgbClr val="FA4098">
                <a:alpha val="5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73421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Parcourir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  <a:r>
              <a:rPr lang="fr-CA" b="1" dirty="0"/>
              <a:t> </a:t>
            </a:r>
            <a:r>
              <a:rPr lang="fr-CA" dirty="0"/>
              <a:t>à l’aide d’une </a:t>
            </a:r>
            <a:r>
              <a:rPr lang="fr-CA" b="1" dirty="0">
                <a:solidFill>
                  <a:srgbClr val="FA4098"/>
                </a:solidFill>
              </a:rPr>
              <a:t>boucle</a:t>
            </a:r>
          </a:p>
          <a:p>
            <a:pPr lvl="1"/>
            <a:r>
              <a:rPr lang="fr-CA" dirty="0"/>
              <a:t> Dans de nombreuses situations, il faut </a:t>
            </a:r>
            <a:r>
              <a:rPr lang="fr-CA" b="1" dirty="0"/>
              <a:t>parcourir un tableau en entier</a:t>
            </a:r>
            <a:r>
              <a:rPr lang="fr-CA" dirty="0"/>
              <a:t>...</a:t>
            </a:r>
          </a:p>
          <a:p>
            <a:pPr lvl="2"/>
            <a:r>
              <a:rPr lang="fr-CA" sz="1800" dirty="0"/>
              <a:t> Afficher tous les éléments</a:t>
            </a:r>
          </a:p>
          <a:p>
            <a:pPr lvl="2"/>
            <a:r>
              <a:rPr lang="fr-CA" sz="1800" dirty="0"/>
              <a:t> Calculer la somme ou la moyenne</a:t>
            </a:r>
          </a:p>
          <a:p>
            <a:pPr lvl="2"/>
            <a:r>
              <a:rPr lang="fr-CA" sz="1800" dirty="0"/>
              <a:t> Trouver le maximum / minimum</a:t>
            </a:r>
          </a:p>
          <a:p>
            <a:pPr lvl="2"/>
            <a:r>
              <a:rPr lang="fr-CA" sz="1800" dirty="0"/>
              <a:t> Trier les éléments par ordre croissant / alphabétique</a:t>
            </a:r>
          </a:p>
          <a:p>
            <a:pPr lvl="2"/>
            <a:r>
              <a:rPr lang="fr-CA" sz="1800" dirty="0"/>
              <a:t> etc.</a:t>
            </a:r>
          </a:p>
          <a:p>
            <a:pPr lvl="2"/>
            <a:endParaRPr lang="fr-CA" dirty="0"/>
          </a:p>
          <a:p>
            <a:pPr lvl="1"/>
            <a:r>
              <a:rPr lang="fr-CA" dirty="0"/>
              <a:t> Une </a:t>
            </a:r>
            <a:r>
              <a:rPr lang="fr-CA" b="1" dirty="0">
                <a:solidFill>
                  <a:srgbClr val="FA4098"/>
                </a:solidFill>
              </a:rPr>
              <a:t>boucle</a:t>
            </a:r>
            <a:r>
              <a:rPr lang="fr-CA" dirty="0"/>
              <a:t> qui sert à parcourir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  <a:r>
              <a:rPr lang="fr-CA" dirty="0"/>
              <a:t> ressemblera toujours à ceci</a:t>
            </a:r>
          </a:p>
          <a:p>
            <a:pPr lvl="2"/>
            <a:r>
              <a:rPr lang="fr-CA" dirty="0"/>
              <a:t> Ça ressemble à une boucle </a:t>
            </a:r>
            <a:r>
              <a:rPr lang="fr-CA" dirty="0">
                <a:solidFill>
                  <a:srgbClr val="FA4098"/>
                </a:solidFill>
              </a:rPr>
              <a:t>for</a:t>
            </a:r>
            <a:r>
              <a:rPr lang="fr-CA" dirty="0"/>
              <a:t>, mais c’est un autre format adapté aux tableaux.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0913DA-1D73-403E-9884-52CAAA41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723" y="5558702"/>
            <a:ext cx="3962953" cy="1038370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192B0B1-5CF0-442B-96E1-10FCFE60F06E}"/>
              </a:ext>
            </a:extLst>
          </p:cNvPr>
          <p:cNvSpPr txBox="1"/>
          <p:nvPr/>
        </p:nvSpPr>
        <p:spPr>
          <a:xfrm>
            <a:off x="6933372" y="4630763"/>
            <a:ext cx="4783140" cy="646331"/>
          </a:xfrm>
          <a:prstGeom prst="rect">
            <a:avLst/>
          </a:prstGeom>
          <a:solidFill>
            <a:srgbClr val="7385D1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monTableau</a:t>
            </a:r>
            <a:r>
              <a:rPr lang="fr-CA" dirty="0">
                <a:solidFill>
                  <a:srgbClr val="7385D1"/>
                </a:solidFill>
              </a:rPr>
              <a:t> est une variable qui contient un tableau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DCCE49-887B-4B2E-816A-B6FE40E4EBCE}"/>
              </a:ext>
            </a:extLst>
          </p:cNvPr>
          <p:cNvSpPr txBox="1"/>
          <p:nvPr/>
        </p:nvSpPr>
        <p:spPr>
          <a:xfrm>
            <a:off x="1018584" y="4769263"/>
            <a:ext cx="5662631" cy="369332"/>
          </a:xfrm>
          <a:prstGeom prst="rect">
            <a:avLst/>
          </a:prstGeom>
          <a:solidFill>
            <a:srgbClr val="7385D1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donnee </a:t>
            </a:r>
            <a:r>
              <a:rPr lang="fr-CA">
                <a:solidFill>
                  <a:srgbClr val="7385D1"/>
                </a:solidFill>
              </a:rPr>
              <a:t>représente chacune des données du </a:t>
            </a:r>
            <a:r>
              <a:rPr lang="fr-CA" dirty="0">
                <a:solidFill>
                  <a:srgbClr val="7385D1"/>
                </a:solidFill>
              </a:rPr>
              <a:t>tableau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21BF443-4EE0-434F-B68B-8151AAA3EFD6}"/>
              </a:ext>
            </a:extLst>
          </p:cNvPr>
          <p:cNvCxnSpPr>
            <a:cxnSpLocks/>
          </p:cNvCxnSpPr>
          <p:nvPr/>
        </p:nvCxnSpPr>
        <p:spPr>
          <a:xfrm flipH="1">
            <a:off x="7229856" y="5225347"/>
            <a:ext cx="225552" cy="431741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0F7D9B2-0514-4CA0-AFBF-FABCD0FF0E0B}"/>
              </a:ext>
            </a:extLst>
          </p:cNvPr>
          <p:cNvCxnSpPr>
            <a:cxnSpLocks/>
          </p:cNvCxnSpPr>
          <p:nvPr/>
        </p:nvCxnSpPr>
        <p:spPr>
          <a:xfrm>
            <a:off x="4669536" y="5133487"/>
            <a:ext cx="741653" cy="535931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155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640372"/>
          </a:xfrm>
        </p:spPr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Parcourir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  <a:r>
              <a:rPr lang="fr-CA" b="1" dirty="0"/>
              <a:t> </a:t>
            </a:r>
            <a:r>
              <a:rPr lang="fr-CA" dirty="0"/>
              <a:t>à l’aide d’une </a:t>
            </a:r>
            <a:r>
              <a:rPr lang="fr-CA" b="1" dirty="0">
                <a:solidFill>
                  <a:srgbClr val="FA4098"/>
                </a:solidFill>
              </a:rPr>
              <a:t>boucle</a:t>
            </a:r>
          </a:p>
          <a:p>
            <a:endParaRPr lang="fr-CA" b="1" dirty="0">
              <a:solidFill>
                <a:srgbClr val="FA4098"/>
              </a:solidFill>
            </a:endParaRPr>
          </a:p>
          <a:p>
            <a:endParaRPr lang="fr-CA" b="1" dirty="0">
              <a:solidFill>
                <a:srgbClr val="FA4098"/>
              </a:solidFill>
            </a:endParaRPr>
          </a:p>
          <a:p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monTableau</a:t>
            </a:r>
            <a:r>
              <a:rPr lang="fr-CA" dirty="0"/>
              <a:t> est le nom de la variable qui contient un tableau.</a:t>
            </a:r>
          </a:p>
          <a:p>
            <a:pPr lvl="2"/>
            <a:r>
              <a:rPr lang="fr-CA" dirty="0"/>
              <a:t> ex.</a:t>
            </a:r>
          </a:p>
          <a:p>
            <a:pPr lvl="2"/>
            <a:endParaRPr lang="fr-CA" dirty="0"/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donnee</a:t>
            </a:r>
            <a:r>
              <a:rPr lang="fr-CA" dirty="0"/>
              <a:t> est une variable locale spéciale qui représente chaque donnée du tableau, une à la fois, à travers les itérations.</a:t>
            </a:r>
          </a:p>
          <a:p>
            <a:pPr lvl="2"/>
            <a:r>
              <a:rPr lang="fr-CA" dirty="0"/>
              <a:t> ex.</a:t>
            </a:r>
          </a:p>
          <a:p>
            <a:pPr lvl="3"/>
            <a:r>
              <a:rPr lang="fr-CA" dirty="0"/>
              <a:t> Première itération : </a:t>
            </a:r>
            <a:r>
              <a:rPr lang="fr-CA" dirty="0">
                <a:solidFill>
                  <a:srgbClr val="FA4098"/>
                </a:solidFill>
              </a:rPr>
              <a:t>donnee</a:t>
            </a:r>
            <a:r>
              <a:rPr lang="fr-CA" dirty="0"/>
              <a:t> vaut </a:t>
            </a:r>
            <a:r>
              <a:rPr lang="fr-CA" dirty="0">
                <a:solidFill>
                  <a:srgbClr val="C00000"/>
                </a:solidFill>
              </a:rPr>
              <a:t>"a"</a:t>
            </a:r>
            <a:r>
              <a:rPr lang="fr-CA" dirty="0"/>
              <a:t>.</a:t>
            </a:r>
          </a:p>
          <a:p>
            <a:pPr lvl="3"/>
            <a:r>
              <a:rPr lang="fr-CA" dirty="0"/>
              <a:t> Deuxième itération : </a:t>
            </a:r>
            <a:r>
              <a:rPr lang="fr-CA" dirty="0">
                <a:solidFill>
                  <a:srgbClr val="FA4098"/>
                </a:solidFill>
              </a:rPr>
              <a:t>donnee</a:t>
            </a:r>
            <a:r>
              <a:rPr lang="fr-CA" dirty="0"/>
              <a:t> vaut </a:t>
            </a:r>
            <a:r>
              <a:rPr lang="fr-CA" dirty="0">
                <a:solidFill>
                  <a:srgbClr val="C00000"/>
                </a:solidFill>
              </a:rPr>
              <a:t>"b"</a:t>
            </a:r>
            <a:r>
              <a:rPr lang="fr-CA" dirty="0"/>
              <a:t>.</a:t>
            </a:r>
          </a:p>
          <a:p>
            <a:pPr lvl="3"/>
            <a:r>
              <a:rPr lang="fr-CA" dirty="0"/>
              <a:t> Troisième itération : </a:t>
            </a:r>
            <a:r>
              <a:rPr lang="fr-CA" dirty="0">
                <a:solidFill>
                  <a:srgbClr val="FA4098"/>
                </a:solidFill>
              </a:rPr>
              <a:t>donnee</a:t>
            </a:r>
            <a:r>
              <a:rPr lang="fr-CA" dirty="0"/>
              <a:t> vaut </a:t>
            </a:r>
            <a:r>
              <a:rPr lang="fr-CA" dirty="0">
                <a:solidFill>
                  <a:srgbClr val="C00000"/>
                </a:solidFill>
              </a:rPr>
              <a:t>"c"</a:t>
            </a:r>
            <a:r>
              <a:rPr lang="fr-CA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0913DA-1D73-403E-9884-52CAAA41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723" y="1785278"/>
            <a:ext cx="3962953" cy="1038370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66C5352-FBC9-48C3-B892-497D18DB3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093" y="3476642"/>
            <a:ext cx="4439270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25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Exemple 1</a:t>
            </a:r>
          </a:p>
          <a:p>
            <a:pPr lvl="1"/>
            <a:r>
              <a:rPr lang="fr-CA" dirty="0"/>
              <a:t> Afficher toutes les données d’un tableau dans la console</a:t>
            </a:r>
          </a:p>
          <a:p>
            <a:pPr lvl="2"/>
            <a:r>
              <a:rPr lang="fr-CA" dirty="0"/>
              <a:t> À chaque itération, on affiche la valeur de </a:t>
            </a:r>
            <a:r>
              <a:rPr lang="fr-CA" dirty="0">
                <a:solidFill>
                  <a:srgbClr val="FA4098"/>
                </a:solidFill>
              </a:rPr>
              <a:t>donnee</a:t>
            </a:r>
            <a:r>
              <a:rPr lang="fr-CA" dirty="0"/>
              <a:t> dans la </a:t>
            </a:r>
            <a:r>
              <a:rPr lang="fr-CA" b="1" dirty="0"/>
              <a:t>console</a:t>
            </a:r>
            <a:r>
              <a:rPr lang="fr-CA" dirty="0"/>
              <a:t>.</a:t>
            </a:r>
            <a:endParaRPr lang="fr-CA" b="1" dirty="0">
              <a:solidFill>
                <a:srgbClr val="FA4098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2A9A4EF-7B36-45B4-9AE5-94D20E93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67" y="2834438"/>
            <a:ext cx="5390798" cy="2660394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C174B40-4BB9-4742-AAF4-2C749DCF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290" y="2834438"/>
            <a:ext cx="2987698" cy="2660394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EC6A70C8-677C-45DD-9D67-DFC6BC2C400D}"/>
              </a:ext>
            </a:extLst>
          </p:cNvPr>
          <p:cNvSpPr/>
          <p:nvPr/>
        </p:nvSpPr>
        <p:spPr>
          <a:xfrm>
            <a:off x="6790445" y="3878123"/>
            <a:ext cx="664464" cy="573024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0364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585508"/>
          </a:xfrm>
        </p:spPr>
        <p:txBody>
          <a:bodyPr/>
          <a:lstStyle/>
          <a:p>
            <a:r>
              <a:rPr lang="fr-CA" dirty="0"/>
              <a:t> Exemple 2</a:t>
            </a:r>
          </a:p>
          <a:p>
            <a:pPr lvl="1"/>
            <a:r>
              <a:rPr lang="fr-CA" dirty="0"/>
              <a:t> Somme des éléments d’un tableau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fr-CA" dirty="0"/>
              <a:t> : Variable pour stocker la </a:t>
            </a:r>
            <a:r>
              <a:rPr lang="fr-CA" b="1" dirty="0"/>
              <a:t>somme</a:t>
            </a:r>
            <a:r>
              <a:rPr lang="fr-CA" dirty="0"/>
              <a:t> des prix. On l’initialise à </a:t>
            </a:r>
            <a:r>
              <a:rPr lang="fr-CA" b="1" dirty="0"/>
              <a:t>zéro</a:t>
            </a:r>
            <a:r>
              <a:rPr lang="fr-CA" dirty="0"/>
              <a:t>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La boucle, avec 5 itérations, fait le calcul suivant : </a:t>
            </a:r>
            <a:r>
              <a:rPr lang="fr-CA" dirty="0">
                <a:solidFill>
                  <a:srgbClr val="FA4098"/>
                </a:solidFill>
              </a:rPr>
              <a:t>0</a:t>
            </a:r>
            <a:r>
              <a:rPr lang="fr-CA" dirty="0"/>
              <a:t> </a:t>
            </a:r>
            <a:r>
              <a:rPr lang="fr-CA"/>
              <a:t>+ 10 + 20 + 30 + 40 + 50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7CD53DEA-8AB7-48F7-8DC6-0405BBF94827}"/>
              </a:ext>
            </a:extLst>
          </p:cNvPr>
          <p:cNvSpPr/>
          <p:nvPr/>
        </p:nvSpPr>
        <p:spPr>
          <a:xfrm>
            <a:off x="6094200" y="3647670"/>
            <a:ext cx="737616" cy="591312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D73F1DA-AFD3-450D-8B70-417B08C3F7ED}"/>
              </a:ext>
            </a:extLst>
          </p:cNvPr>
          <p:cNvSpPr txBox="1"/>
          <p:nvPr/>
        </p:nvSpPr>
        <p:spPr>
          <a:xfrm>
            <a:off x="5560541" y="6331744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Valeur initiale de 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A38D909-50E4-4B06-ACBE-90402D13544B}"/>
              </a:ext>
            </a:extLst>
          </p:cNvPr>
          <p:cNvCxnSpPr>
            <a:cxnSpLocks/>
          </p:cNvCxnSpPr>
          <p:nvPr/>
        </p:nvCxnSpPr>
        <p:spPr>
          <a:xfrm flipV="1">
            <a:off x="6955536" y="6035040"/>
            <a:ext cx="286512" cy="329184"/>
          </a:xfrm>
          <a:prstGeom prst="straightConnector1">
            <a:avLst/>
          </a:prstGeom>
          <a:ln w="28575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79A6E6C0-BDF1-45E9-9E09-BC603C4773BF}"/>
              </a:ext>
            </a:extLst>
          </p:cNvPr>
          <p:cNvSpPr txBox="1"/>
          <p:nvPr/>
        </p:nvSpPr>
        <p:spPr>
          <a:xfrm>
            <a:off x="7095271" y="2840401"/>
            <a:ext cx="280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85D1"/>
                </a:solidFill>
              </a:rPr>
              <a:t>Alerte effectuée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92A7DC-D2EB-4D45-9BD8-252D1BDC6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12" y="2640271"/>
            <a:ext cx="4964740" cy="280683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B72C57-CCB0-45F4-ACE2-69499151C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164" y="3188248"/>
            <a:ext cx="4251923" cy="141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73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BA42F2-30AC-47F9-9BC8-81B4CF628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Exemple 3 🐈</a:t>
            </a:r>
          </a:p>
          <a:p>
            <a:pPr lvl="1"/>
            <a:r>
              <a:rPr lang="fr-CA" dirty="0"/>
              <a:t> Chercher le mot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"Chat"</a:t>
            </a:r>
            <a:r>
              <a:rPr lang="fr-CA" dirty="0">
                <a:cs typeface="Courier New" panose="02070309020205020404" pitchFamily="49" charset="0"/>
              </a:rPr>
              <a:t> dans un tableau </a:t>
            </a:r>
            <a:r>
              <a:rPr lang="fr-CA" dirty="0"/>
              <a:t>et lancer une </a:t>
            </a:r>
            <a:r>
              <a:rPr lang="fr-CA" b="1" dirty="0">
                <a:solidFill>
                  <a:srgbClr val="FA4098"/>
                </a:solidFill>
              </a:rPr>
              <a:t>alerte </a:t>
            </a:r>
            <a:r>
              <a:rPr lang="fr-CA" dirty="0"/>
              <a:t>s’il y en a un.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Boucles et tableaux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D21BA5-E088-4BF9-8C77-C267F5EA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77" y="2324317"/>
            <a:ext cx="6695645" cy="2098253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E2F2291-409F-497A-8FEB-34EDE6634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42" y="5108560"/>
            <a:ext cx="4020111" cy="1362265"/>
          </a:xfrm>
          <a:prstGeom prst="rect">
            <a:avLst/>
          </a:prstGeom>
        </p:spPr>
      </p:pic>
      <p:sp>
        <p:nvSpPr>
          <p:cNvPr id="10" name="Flèche : bas 9">
            <a:extLst>
              <a:ext uri="{FF2B5EF4-FFF2-40B4-BE49-F238E27FC236}">
                <a16:creationId xmlns:a16="http://schemas.microsoft.com/office/drawing/2014/main" id="{628CAD37-AA9D-4412-9E0A-2A2A09285669}"/>
              </a:ext>
            </a:extLst>
          </p:cNvPr>
          <p:cNvSpPr/>
          <p:nvPr/>
        </p:nvSpPr>
        <p:spPr>
          <a:xfrm>
            <a:off x="5771110" y="4573541"/>
            <a:ext cx="646176" cy="384048"/>
          </a:xfrm>
          <a:prstGeom prst="down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53846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F6A7131-C6C4-4067-9513-EF4F290BA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292900"/>
          </a:xfrm>
        </p:spPr>
        <p:txBody>
          <a:bodyPr/>
          <a:lstStyle/>
          <a:p>
            <a:r>
              <a:rPr lang="fr-CA" dirty="0"/>
              <a:t> Tableaux et #</a:t>
            </a:r>
            <a:r>
              <a:rPr lang="fr-CA"/>
              <a:t>ids</a:t>
            </a:r>
            <a:endParaRPr lang="fr-CA" dirty="0"/>
          </a:p>
          <a:p>
            <a:pPr lvl="1"/>
            <a:r>
              <a:rPr lang="fr-CA" dirty="0"/>
              <a:t> Modifier plusieurs éléments avec des ids différents</a:t>
            </a:r>
          </a:p>
          <a:p>
            <a:pPr lvl="2"/>
            <a:r>
              <a:rPr lang="fr-CA" dirty="0"/>
              <a:t> Il faut commencer par créer un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  <a:r>
              <a:rPr lang="fr-CA" dirty="0"/>
              <a:t> qui contient les #</a:t>
            </a:r>
            <a:r>
              <a:rPr lang="fr-CA" b="1" dirty="0"/>
              <a:t>ids</a:t>
            </a:r>
            <a:r>
              <a:rPr lang="fr-CA" dirty="0"/>
              <a:t> des éléments pour lesquels nous souhaitons faire une opération commune :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Ensuite, on fait une </a:t>
            </a:r>
            <a:r>
              <a:rPr lang="fr-CA" b="1" dirty="0">
                <a:solidFill>
                  <a:srgbClr val="FA4098"/>
                </a:solidFill>
              </a:rPr>
              <a:t>boucle </a:t>
            </a:r>
            <a:r>
              <a:rPr lang="fr-CA" dirty="0"/>
              <a:t>qui parcourt le </a:t>
            </a:r>
            <a:r>
              <a:rPr lang="fr-CA" b="1" dirty="0">
                <a:solidFill>
                  <a:srgbClr val="FA4098"/>
                </a:solidFill>
              </a:rPr>
              <a:t>tableau</a:t>
            </a:r>
            <a:r>
              <a:rPr lang="fr-CA" dirty="0"/>
              <a:t>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895D89A-BA00-4BDA-B738-4A3969AB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 et #ids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DA55020-71C1-4A70-A060-784DCCDEA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81" y="2786465"/>
            <a:ext cx="3848637" cy="952633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1A334C-799D-4A48-8DE0-DFD277F8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92" y="3067754"/>
            <a:ext cx="5611008" cy="419158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F8F9C9BE-8942-498A-B811-942F1D162E70}"/>
              </a:ext>
            </a:extLst>
          </p:cNvPr>
          <p:cNvSpPr/>
          <p:nvPr/>
        </p:nvSpPr>
        <p:spPr>
          <a:xfrm>
            <a:off x="4926599" y="3038652"/>
            <a:ext cx="591312" cy="448260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7135281-8A3B-473D-A336-55EC6A8E7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800" y="4619121"/>
            <a:ext cx="6982799" cy="1752845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3826507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31C160D-E650-46A2-B604-B93DC9CBE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506260"/>
          </a:xfrm>
        </p:spPr>
        <p:txBody>
          <a:bodyPr/>
          <a:lstStyle/>
          <a:p>
            <a:r>
              <a:rPr lang="fr-CA" dirty="0"/>
              <a:t> Tableaux avec plusieurs éléments qui ont la même classe</a:t>
            </a:r>
          </a:p>
          <a:p>
            <a:pPr lvl="1"/>
            <a:r>
              <a:rPr lang="fr-CA" dirty="0"/>
              <a:t> Disons qu’on souhaite modifier plusieurs éléments avec la </a:t>
            </a:r>
            <a:r>
              <a:rPr lang="fr-CA" dirty="0">
                <a:solidFill>
                  <a:srgbClr val="FA4098"/>
                </a:solidFill>
              </a:rPr>
              <a:t>même classe</a:t>
            </a:r>
            <a:r>
              <a:rPr lang="fr-CA" dirty="0"/>
              <a:t>, mais qui n’ont </a:t>
            </a:r>
            <a:r>
              <a:rPr lang="fr-CA" u="sng" dirty="0"/>
              <a:t>pas d’id</a:t>
            </a:r>
            <a:r>
              <a:rPr lang="fr-CA" dirty="0"/>
              <a:t>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Solution</a:t>
            </a:r>
            <a:r>
              <a:rPr lang="fr-CA" dirty="0"/>
              <a:t> : Ranger tous les éléments avec la </a:t>
            </a:r>
            <a:r>
              <a:rPr lang="fr-CA" dirty="0">
                <a:solidFill>
                  <a:srgbClr val="FA4098"/>
                </a:solidFill>
              </a:rPr>
              <a:t>même classe</a:t>
            </a:r>
            <a:r>
              <a:rPr lang="fr-CA" dirty="0"/>
              <a:t> dans un tableau à l’aide de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querySelectorAll</a:t>
            </a:r>
            <a:r>
              <a:rPr lang="fr-CA" sz="2000" dirty="0"/>
              <a:t> </a:t>
            </a:r>
            <a:r>
              <a:rPr lang="fr-CA" dirty="0"/>
              <a:t>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Attention : on met un </a:t>
            </a:r>
            <a:r>
              <a:rPr lang="fr-CA" dirty="0">
                <a:solidFill>
                  <a:srgbClr val="FA4098"/>
                </a:solidFill>
              </a:rPr>
              <a:t>.</a:t>
            </a:r>
            <a:r>
              <a:rPr lang="fr-CA" dirty="0"/>
              <a:t> plutôt qu’un </a:t>
            </a:r>
            <a:r>
              <a:rPr lang="fr-CA" dirty="0">
                <a:solidFill>
                  <a:srgbClr val="FA4098"/>
                </a:solidFill>
              </a:rPr>
              <a:t>#</a:t>
            </a:r>
            <a:r>
              <a:rPr lang="fr-CA" dirty="0"/>
              <a:t> car c’est une </a:t>
            </a:r>
            <a:r>
              <a:rPr lang="fr-CA" dirty="0">
                <a:solidFill>
                  <a:srgbClr val="FA4098"/>
                </a:solidFill>
              </a:rPr>
              <a:t>classe</a:t>
            </a:r>
            <a:r>
              <a:rPr lang="fr-CA" dirty="0"/>
              <a:t> et non un id.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386E5F1-4A9A-43B3-90A2-FCFBB3AD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 d’éléments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C37BBC-3265-4450-AB67-83B6B2FB2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407" y="2381879"/>
            <a:ext cx="3829584" cy="952633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CD0BE0D-2BC2-4286-A1BE-868F229E7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247" y="4325834"/>
            <a:ext cx="6839905" cy="571580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1344877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31C160D-E650-46A2-B604-B93DC9CBE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542836"/>
          </a:xfrm>
        </p:spPr>
        <p:txBody>
          <a:bodyPr/>
          <a:lstStyle/>
          <a:p>
            <a:r>
              <a:rPr lang="fr-CA" dirty="0"/>
              <a:t> Tableaux avec plusieurs éléments qui ont la même classe</a:t>
            </a:r>
          </a:p>
          <a:p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Une fois qu’on a notre </a:t>
            </a:r>
            <a:r>
              <a:rPr lang="fr-CA" dirty="0">
                <a:solidFill>
                  <a:srgbClr val="FA4098"/>
                </a:solidFill>
              </a:rPr>
              <a:t>tableau d’éléments</a:t>
            </a:r>
            <a:r>
              <a:rPr lang="fr-CA" dirty="0"/>
              <a:t>, on peut les modifier à l’aide d’une boucle qui parcourt le tableau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dirty="0"/>
              <a:t> Attention : on met </a:t>
            </a:r>
            <a:r>
              <a:rPr lang="fr-CA"/>
              <a:t>juste </a:t>
            </a:r>
            <a:r>
              <a:rPr lang="fr-CA">
                <a:solidFill>
                  <a:srgbClr val="FA4098"/>
                </a:solidFill>
              </a:rPr>
              <a:t>e</a:t>
            </a:r>
            <a:r>
              <a:rPr lang="fr-CA"/>
              <a:t> (pas </a:t>
            </a:r>
            <a:r>
              <a:rPr lang="fr-CA">
                <a:solidFill>
                  <a:schemeClr val="tx1"/>
                </a:solidFill>
              </a:rPr>
              <a:t>document</a:t>
            </a:r>
            <a:r>
              <a:rPr lang="fr-CA" dirty="0">
                <a:solidFill>
                  <a:schemeClr val="tx1"/>
                </a:solidFill>
              </a:rPr>
              <a:t>.querySelector(</a:t>
            </a:r>
            <a:r>
              <a:rPr lang="fr-CA">
                <a:solidFill>
                  <a:srgbClr val="FA4098"/>
                </a:solidFill>
              </a:rPr>
              <a:t>e</a:t>
            </a:r>
            <a:r>
              <a:rPr lang="fr-CA">
                <a:solidFill>
                  <a:schemeClr val="tx1"/>
                </a:solidFill>
              </a:rPr>
              <a:t>)</a:t>
            </a:r>
            <a:r>
              <a:rPr lang="fr-CA">
                <a:solidFill>
                  <a:srgbClr val="739CD1"/>
                </a:solidFill>
              </a:rPr>
              <a:t>)</a:t>
            </a:r>
            <a:endParaRPr lang="fr-CA" dirty="0">
              <a:solidFill>
                <a:srgbClr val="739CD1"/>
              </a:solidFill>
            </a:endParaRPr>
          </a:p>
          <a:p>
            <a:pPr lvl="2"/>
            <a:r>
              <a:rPr lang="fr-CA" dirty="0"/>
              <a:t> Notre tableau contient des </a:t>
            </a:r>
            <a:r>
              <a:rPr lang="fr-CA" u="sng" dirty="0"/>
              <a:t>éléments</a:t>
            </a:r>
            <a:r>
              <a:rPr lang="fr-CA" dirty="0"/>
              <a:t>, pas des ids. C’est un peu l’équivalent de ceci :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386E5F1-4A9A-43B3-90A2-FCFBB3AD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Tableaux d’éléments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6918F7-39B2-45CB-BD6A-DCB141D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811" y="1789896"/>
            <a:ext cx="6128377" cy="512121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E834D3B-C23E-45F8-A489-9ECA8F84E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229" y="3323591"/>
            <a:ext cx="5502959" cy="1401036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BD0C77C-C9E5-4F3F-8036-38233072E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318" y="5831545"/>
            <a:ext cx="4955763" cy="620428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C001438-529F-491B-BF8E-9733FEE0D8A7}"/>
              </a:ext>
            </a:extLst>
          </p:cNvPr>
          <p:cNvCxnSpPr>
            <a:cxnSpLocks/>
          </p:cNvCxnSpPr>
          <p:nvPr/>
        </p:nvCxnSpPr>
        <p:spPr>
          <a:xfrm flipV="1">
            <a:off x="3858768" y="6363581"/>
            <a:ext cx="158125" cy="418219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127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91FA2BA-41CE-4D2C-A047-AE1CBCC81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664756"/>
          </a:xfrm>
        </p:spPr>
        <p:txBody>
          <a:bodyPr/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querySelector()</a:t>
            </a:r>
            <a:r>
              <a:rPr lang="fr-CA"/>
              <a:t> vs </a:t>
            </a:r>
            <a:r>
              <a:rPr lang="fr-CA">
                <a:solidFill>
                  <a:srgbClr val="FA4098"/>
                </a:solidFill>
              </a:rPr>
              <a:t>querySelectorAll()</a:t>
            </a:r>
          </a:p>
          <a:p>
            <a:endParaRPr lang="fr-CA"/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querySelector()</a:t>
            </a:r>
            <a:r>
              <a:rPr lang="fr-CA"/>
              <a:t> permet d’obtenir un seul élément. </a:t>
            </a:r>
          </a:p>
          <a:p>
            <a:pPr lvl="2"/>
            <a:r>
              <a:rPr lang="fr-CA"/>
              <a:t> On s’en sert pour obtenir un élément avec un </a:t>
            </a:r>
            <a:r>
              <a:rPr lang="fr-CA">
                <a:solidFill>
                  <a:srgbClr val="FA4098"/>
                </a:solidFill>
              </a:rPr>
              <a:t>id</a:t>
            </a:r>
            <a:r>
              <a:rPr lang="fr-CA"/>
              <a:t> précis.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marL="457200" lvl="1" indent="0">
              <a:buNone/>
            </a:pPr>
            <a:endParaRPr lang="fr-CA"/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querySelectorAll()</a:t>
            </a:r>
            <a:r>
              <a:rPr lang="fr-CA"/>
              <a:t> permet d’obtenir un tableau de plusieurs éléments.</a:t>
            </a:r>
          </a:p>
          <a:p>
            <a:pPr lvl="2"/>
            <a:r>
              <a:rPr lang="fr-CA"/>
              <a:t> On s’en sert pour obtenir plusieurs éléments avec une même </a:t>
            </a:r>
            <a:r>
              <a:rPr lang="fr-CA">
                <a:solidFill>
                  <a:srgbClr val="FA4098"/>
                </a:solidFill>
              </a:rPr>
              <a:t>classe</a:t>
            </a:r>
            <a:r>
              <a:rPr lang="fr-CA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E0C2805-D463-402B-AA05-29681DF7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Tableaux d’éléments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196B12-7EA5-4BD0-986E-4F37C883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134" y="2919909"/>
            <a:ext cx="5173731" cy="901179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C5751F-B8FB-49F2-8196-8A9A77B0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11" y="4865203"/>
            <a:ext cx="6136777" cy="1684450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19023295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BD4E3F-366D-4C21-B678-CD16BECA384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CFC1EEA-B388-4EBC-805D-C0D321BA15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96A269-107D-42A3-AD87-5D8AF757789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14569</TotalTime>
  <Words>1787</Words>
  <Application>Microsoft Office PowerPoint</Application>
  <PresentationFormat>Grand écran</PresentationFormat>
  <Paragraphs>305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Cours 8</vt:lpstr>
      <vt:lpstr>Menu du jour</vt:lpstr>
      <vt:lpstr>Révision semaine 7</vt:lpstr>
      <vt:lpstr>Révision semaine 7</vt:lpstr>
      <vt:lpstr>Révision semaine 7</vt:lpstr>
      <vt:lpstr>Tableaux</vt:lpstr>
      <vt:lpstr>Tableaux</vt:lpstr>
      <vt:lpstr>Tableaux</vt:lpstr>
      <vt:lpstr>Tableaux</vt:lpstr>
      <vt:lpstr>Tableaux</vt:lpstr>
      <vt:lpstr>Tableaux</vt:lpstr>
      <vt:lpstr>Push et Pop</vt:lpstr>
      <vt:lpstr>Push et Pop</vt:lpstr>
      <vt:lpstr>Splice</vt:lpstr>
      <vt:lpstr>Splice</vt:lpstr>
      <vt:lpstr>Splice</vt:lpstr>
      <vt:lpstr>Splice</vt:lpstr>
      <vt:lpstr>Splice</vt:lpstr>
      <vt:lpstr>Boucles et tableaux</vt:lpstr>
      <vt:lpstr>Boucles et tableaux</vt:lpstr>
      <vt:lpstr>Boucles et tableaux</vt:lpstr>
      <vt:lpstr>Boucles et tableaux</vt:lpstr>
      <vt:lpstr>Boucles et tableaux</vt:lpstr>
      <vt:lpstr>Boucles et tableaux</vt:lpstr>
      <vt:lpstr>Tableaux et #ids</vt:lpstr>
      <vt:lpstr>Tableaux d’éléments</vt:lpstr>
      <vt:lpstr>Tableaux d’éléments</vt:lpstr>
      <vt:lpstr>Tableaux d’éléments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Pelletier Maxime</cp:lastModifiedBy>
  <cp:revision>3023</cp:revision>
  <dcterms:created xsi:type="dcterms:W3CDTF">2021-06-05T18:50:42Z</dcterms:created>
  <dcterms:modified xsi:type="dcterms:W3CDTF">2022-10-11T00:59:59Z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